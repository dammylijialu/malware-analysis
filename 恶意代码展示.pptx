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78" r:id="rId5"/>
    <p:sldId id="361" r:id="rId6"/>
    <p:sldId id="367" r:id="rId7"/>
    <p:sldId id="379" r:id="rId8"/>
    <p:sldId id="324" r:id="rId9"/>
    <p:sldId id="356" r:id="rId10"/>
    <p:sldId id="358" r:id="rId11"/>
    <p:sldId id="357" r:id="rId12"/>
    <p:sldId id="359" r:id="rId13"/>
    <p:sldId id="363" r:id="rId14"/>
    <p:sldId id="366" r:id="rId15"/>
    <p:sldId id="362" r:id="rId16"/>
    <p:sldId id="365" r:id="rId17"/>
    <p:sldId id="364" r:id="rId18"/>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91"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紫琪" initials="紫"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01E5E"/>
    <a:srgbClr val="A2508C"/>
    <a:srgbClr val="B78EAE"/>
    <a:srgbClr val="AD4591"/>
    <a:srgbClr val="C65844"/>
    <a:srgbClr val="FFFFFF"/>
    <a:srgbClr val="FBF9F8"/>
    <a:srgbClr val="EFE6E1"/>
    <a:srgbClr val="E0CEC3"/>
    <a:srgbClr val="DED6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10" d="100"/>
          <a:sy n="110" d="100"/>
        </p:scale>
        <p:origin x="140" y="72"/>
      </p:cViewPr>
      <p:guideLst>
        <p:guide orient="horz" pos="2491"/>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130.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Lab03-01.exe </a:t>
            </a:r>
            <a:r>
              <a:rPr lang="zh-CN" altLang="en-US"/>
              <a:t>中可以通过Dependency Walker查看到仅有一个ExitProcess。而单凭这一个函数无法使这个程序正常运行，怀疑该文件出现了加壳；也可以直接通过</a:t>
            </a:r>
            <a:r>
              <a:rPr lang="en-US" altLang="zh-CN"/>
              <a:t>PEiD</a:t>
            </a:r>
            <a:r>
              <a:rPr lang="zh-CN" altLang="en-US"/>
              <a:t>查看到加壳</a:t>
            </a:r>
            <a:r>
              <a:rPr lang="zh-CN" altLang="en-US"/>
              <a:t>类型。</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Lab03-01.</a:t>
            </a:r>
            <a:r>
              <a:rPr lang="en-US" altLang="zh-CN"/>
              <a:t>exe</a:t>
            </a:r>
            <a:endParaRPr lang="en-US" altLang="zh-CN"/>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pic>
        <p:nvPicPr>
          <p:cNvPr id="100" name="图片 99"/>
          <p:cNvPicPr/>
          <p:nvPr userDrawn="1">
            <p:custDataLst>
              <p:tags r:id="rId7"/>
            </p:custDataLst>
          </p:nvPr>
        </p:nvPicPr>
        <p:blipFill>
          <a:blip r:embed="rId8"/>
          <a:srcRect b="5315"/>
          <a:stretch>
            <a:fillRect/>
          </a:stretch>
        </p:blipFill>
        <p:spPr>
          <a:xfrm>
            <a:off x="2538095" y="2540"/>
            <a:ext cx="9653905" cy="6855460"/>
          </a:xfrm>
          <a:prstGeom prst="rect">
            <a:avLst/>
          </a:prstGeom>
          <a:noFill/>
          <a:ln w="9525">
            <a:noFill/>
          </a:ln>
        </p:spPr>
      </p:pic>
      <p:sp>
        <p:nvSpPr>
          <p:cNvPr id="5" name="矩形 4"/>
          <p:cNvSpPr/>
          <p:nvPr userDrawn="1"/>
        </p:nvSpPr>
        <p:spPr>
          <a:xfrm>
            <a:off x="0" y="0"/>
            <a:ext cx="5348605" cy="6858000"/>
          </a:xfrm>
          <a:prstGeom prst="rect">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0" name="图片 99"/>
          <p:cNvPicPr/>
          <p:nvPr userDrawn="1">
            <p:custDataLst>
              <p:tags r:id="rId2"/>
            </p:custDataLst>
          </p:nvPr>
        </p:nvPicPr>
        <p:blipFill>
          <a:blip r:embed="rId3"/>
          <a:srcRect l="16424" b="5315"/>
          <a:stretch>
            <a:fillRect/>
          </a:stretch>
        </p:blipFill>
        <p:spPr>
          <a:xfrm>
            <a:off x="-29845" y="0"/>
            <a:ext cx="8068310" cy="6855460"/>
          </a:xfrm>
          <a:prstGeom prst="rect">
            <a:avLst/>
          </a:prstGeom>
          <a:noFill/>
          <a:ln w="9525">
            <a:noFill/>
          </a:ln>
        </p:spPr>
      </p:pic>
      <p:sp>
        <p:nvSpPr>
          <p:cNvPr id="10" name="矩形 9"/>
          <p:cNvSpPr/>
          <p:nvPr userDrawn="1"/>
        </p:nvSpPr>
        <p:spPr>
          <a:xfrm>
            <a:off x="5349240" y="8890"/>
            <a:ext cx="684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0" name="图片 99"/>
          <p:cNvPicPr/>
          <p:nvPr userDrawn="1"/>
        </p:nvPicPr>
        <p:blipFill>
          <a:blip r:embed="rId2"/>
          <a:srcRect t="-70" r="15129" b="5315"/>
          <a:stretch>
            <a:fillRect/>
          </a:stretch>
        </p:blipFill>
        <p:spPr>
          <a:xfrm>
            <a:off x="4021455" y="-5080"/>
            <a:ext cx="8193405" cy="6860540"/>
          </a:xfrm>
          <a:prstGeom prst="rect">
            <a:avLst/>
          </a:prstGeom>
          <a:noFill/>
          <a:ln w="9525">
            <a:noFill/>
          </a:ln>
        </p:spPr>
      </p:pic>
      <p:sp>
        <p:nvSpPr>
          <p:cNvPr id="8" name="矩形 7"/>
          <p:cNvSpPr/>
          <p:nvPr userDrawn="1"/>
        </p:nvSpPr>
        <p:spPr>
          <a:xfrm>
            <a:off x="0" y="0"/>
            <a:ext cx="681228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135890" y="127000"/>
            <a:ext cx="11916000" cy="6604000"/>
          </a:xfrm>
          <a:prstGeom prst="rect">
            <a:avLst/>
          </a:prstGeom>
          <a:noFill/>
          <a:ln w="28575">
            <a:solidFill>
              <a:srgbClr val="701E5E">
                <a:alpha val="50000"/>
              </a:srgbClr>
            </a:solidFill>
            <a:beve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a:srcRect l="44723" t="20915" r="33962" b="59482"/>
          <a:stretch>
            <a:fillRect/>
          </a:stretch>
        </p:blipFill>
        <p:spPr>
          <a:xfrm>
            <a:off x="538480" y="0"/>
            <a:ext cx="902033" cy="68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4" Type="http://schemas.openxmlformats.org/officeDocument/2006/relationships/slideLayout" Target="../slideLayouts/slideLayout7.xml"/><Relationship Id="rId33" Type="http://schemas.openxmlformats.org/officeDocument/2006/relationships/tags" Target="../tags/tag78.xml"/><Relationship Id="rId32" Type="http://schemas.openxmlformats.org/officeDocument/2006/relationships/image" Target="../media/image6.png"/><Relationship Id="rId31" Type="http://schemas.openxmlformats.org/officeDocument/2006/relationships/image" Target="../media/image5.png"/><Relationship Id="rId30" Type="http://schemas.openxmlformats.org/officeDocument/2006/relationships/image" Target="../media/image4.png"/><Relationship Id="rId3" Type="http://schemas.openxmlformats.org/officeDocument/2006/relationships/tags" Target="../tags/tag52.xml"/><Relationship Id="rId29" Type="http://schemas.openxmlformats.org/officeDocument/2006/relationships/image" Target="../media/image3.png"/><Relationship Id="rId28" Type="http://schemas.openxmlformats.org/officeDocument/2006/relationships/tags" Target="../tags/tag77.xml"/><Relationship Id="rId27" Type="http://schemas.openxmlformats.org/officeDocument/2006/relationships/tags" Target="../tags/tag76.xml"/><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1.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image" Target="../media/image1.jpeg"/><Relationship Id="rId17" Type="http://schemas.openxmlformats.org/officeDocument/2006/relationships/notesSlide" Target="../notesSlides/notesSlide2.xml"/><Relationship Id="rId16" Type="http://schemas.openxmlformats.org/officeDocument/2006/relationships/slideLayout" Target="../slideLayouts/slideLayout6.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3.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95.xml"/><Relationship Id="rId5" Type="http://schemas.openxmlformats.org/officeDocument/2006/relationships/image" Target="../media/image9.png"/><Relationship Id="rId4" Type="http://schemas.openxmlformats.org/officeDocument/2006/relationships/image" Target="../media/image1.jpeg"/><Relationship Id="rId3" Type="http://schemas.openxmlformats.org/officeDocument/2006/relationships/tags" Target="../tags/tag94.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jpeg"/><Relationship Id="rId3" Type="http://schemas.openxmlformats.org/officeDocument/2006/relationships/tags" Target="../tags/tag96.xml"/><Relationship Id="rId2" Type="http://schemas.openxmlformats.org/officeDocument/2006/relationships/image" Target="../media/image8.png"/><Relationship Id="rId11" Type="http://schemas.openxmlformats.org/officeDocument/2006/relationships/notesSlide" Target="../notesSlides/notesSlide3.xml"/><Relationship Id="rId10"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98.xml"/><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100.xml"/><Relationship Id="rId5" Type="http://schemas.openxmlformats.org/officeDocument/2006/relationships/image" Target="../media/image17.png"/><Relationship Id="rId4" Type="http://schemas.openxmlformats.org/officeDocument/2006/relationships/image" Target="../media/image1.jpeg"/><Relationship Id="rId3" Type="http://schemas.openxmlformats.org/officeDocument/2006/relationships/tags" Target="../tags/tag99.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1" Type="http://schemas.openxmlformats.org/officeDocument/2006/relationships/slideLayout" Target="../slideLayouts/slideLayout7.xml"/><Relationship Id="rId10" Type="http://schemas.openxmlformats.org/officeDocument/2006/relationships/tags" Target="../tags/tag110.xml"/><Relationship Id="rId1" Type="http://schemas.openxmlformats.org/officeDocument/2006/relationships/tags" Target="../tags/tag10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2.xml"/></Relationships>
</file>

<file path=ppt/slides/_rels/slide13.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6" Type="http://schemas.openxmlformats.org/officeDocument/2006/relationships/slideLayout" Target="../slideLayouts/slideLayout7.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tags" Target="../tags/tag1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714050" y="4841875"/>
            <a:ext cx="1013460" cy="1691640"/>
          </a:xfrm>
          <a:prstGeom prst="rect">
            <a:avLst/>
          </a:prstGeom>
          <a:noFill/>
        </p:spPr>
        <p:txBody>
          <a:bodyPr vert="mongolianVert" wrap="none" rtlCol="0">
            <a:spAutoFit/>
          </a:bodyPr>
          <a:lstStyle/>
          <a:p>
            <a:pPr algn="ctr">
              <a:lnSpc>
                <a:spcPct val="150000"/>
              </a:lnSpc>
            </a:pP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专业：</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信息安全</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姓名：</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李佳璐</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0277475" y="1494790"/>
            <a:ext cx="994410" cy="2894330"/>
          </a:xfrm>
          <a:prstGeom prst="rect">
            <a:avLst/>
          </a:prstGeom>
          <a:solidFill>
            <a:srgbClr val="701E5E">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tIns="0" rtlCol="0" anchor="ctr"/>
          <a:lstStyle/>
          <a:p>
            <a:pPr algn="ctr">
              <a:lnSpc>
                <a:spcPct val="100000"/>
              </a:lnSpc>
            </a:pPr>
            <a:r>
              <a:rPr lang="zh-CN" altLang="en-US" sz="3000" kern="3000" spc="1000" dirty="0">
                <a:solidFill>
                  <a:schemeClr val="bg2"/>
                </a:solidFill>
                <a:uFillTx/>
                <a:latin typeface="微软雅黑 Light" panose="020B0502040204020203" charset="-122"/>
                <a:ea typeface="微软雅黑 Light" panose="020B0502040204020203" charset="-122"/>
              </a:rPr>
              <a:t>允公允能</a:t>
            </a:r>
            <a:endParaRPr lang="zh-CN" altLang="en-US" sz="3000" kern="3000" spc="1000" dirty="0">
              <a:solidFill>
                <a:schemeClr val="bg2"/>
              </a:solidFill>
              <a:uFillTx/>
              <a:latin typeface="微软雅黑 Light" panose="020B0502040204020203" charset="-122"/>
              <a:ea typeface="微软雅黑 Light" panose="020B0502040204020203" charset="-122"/>
            </a:endParaRPr>
          </a:p>
          <a:p>
            <a:pPr algn="ctr">
              <a:lnSpc>
                <a:spcPct val="100000"/>
              </a:lnSpc>
            </a:pPr>
            <a:r>
              <a:rPr lang="en-US" altLang="zh-CN" sz="3000" kern="3000" spc="1000" dirty="0">
                <a:solidFill>
                  <a:schemeClr val="bg2"/>
                </a:solidFill>
                <a:uFillTx/>
                <a:latin typeface="微软雅黑 Light" panose="020B0502040204020203" charset="-122"/>
                <a:ea typeface="微软雅黑 Light" panose="020B0502040204020203" charset="-122"/>
              </a:rPr>
              <a:t>   </a:t>
            </a:r>
            <a:r>
              <a:rPr lang="zh-CN" altLang="en-US" sz="3000" kern="3000" spc="1000" dirty="0">
                <a:solidFill>
                  <a:schemeClr val="bg2"/>
                </a:solidFill>
                <a:uFillTx/>
                <a:latin typeface="微软雅黑 Light" panose="020B0502040204020203" charset="-122"/>
                <a:ea typeface="微软雅黑 Light" panose="020B0502040204020203" charset="-122"/>
              </a:rPr>
              <a:t>日新月异</a:t>
            </a:r>
            <a:endParaRPr lang="zh-CN" altLang="en-US" sz="3000" kern="3000" spc="1000" dirty="0">
              <a:solidFill>
                <a:schemeClr val="bg2"/>
              </a:solidFill>
              <a:uFillTx/>
              <a:latin typeface="微软雅黑 Light" panose="020B0502040204020203" charset="-122"/>
              <a:ea typeface="微软雅黑 Light" panose="020B0502040204020203" charset="-122"/>
            </a:endParaRPr>
          </a:p>
        </p:txBody>
      </p:sp>
      <p:sp>
        <p:nvSpPr>
          <p:cNvPr id="7" name="文本框 6"/>
          <p:cNvSpPr txBox="1"/>
          <p:nvPr/>
        </p:nvSpPr>
        <p:spPr>
          <a:xfrm>
            <a:off x="774700" y="486410"/>
            <a:ext cx="2214245" cy="5734685"/>
          </a:xfrm>
          <a:prstGeom prst="rect">
            <a:avLst/>
          </a:prstGeom>
          <a:noFill/>
          <a:extLst>
            <a:ext uri="{909E8E84-426E-40DD-AFC4-6F175D3DCCD1}">
              <a14:hiddenFill xmlns:a14="http://schemas.microsoft.com/office/drawing/2010/main">
                <a:solidFill>
                  <a:schemeClr val="bg1"/>
                </a:solidFill>
              </a14:hiddenFill>
            </a:ext>
          </a:extLst>
        </p:spPr>
        <p:txBody>
          <a:bodyPr vert="mongolianVert" wrap="square" rtlCol="0" anchor="ctr" anchorCtr="1">
            <a:spAutoFit/>
          </a:bodyPr>
          <a:lstStyle/>
          <a:p>
            <a:pPr algn="ctr">
              <a:lnSpc>
                <a:spcPct val="100000"/>
              </a:lnSpc>
            </a:pPr>
            <a:r>
              <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恶意代码分析与防治</a:t>
            </a:r>
            <a:r>
              <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技术</a:t>
            </a:r>
            <a:endPar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0" y="0"/>
            <a:ext cx="374650" cy="1997710"/>
          </a:xfrm>
          <a:prstGeom prst="rect">
            <a:avLst/>
          </a:prstGeom>
          <a:solidFill>
            <a:schemeClr val="bg1"/>
          </a:solidFill>
        </p:spPr>
        <p:txBody>
          <a:bodyPr vert="eaVert" wrap="square" lIns="0" tIns="0" rIns="36195" bIns="0" rtlCol="0" anchor="ctr" anchorCtr="1">
            <a:spAutoFit/>
          </a:bodyPr>
          <a:lstStyle/>
          <a:p>
            <a:pPr algn="ctr"/>
            <a:r>
              <a:rPr lang="en-US" altLang="zh-CN" sz="2200" b="1">
                <a:solidFill>
                  <a:srgbClr val="701E5E"/>
                </a:solidFill>
                <a:latin typeface="微软雅黑 Light" panose="020B0502040204020203" charset="-122"/>
                <a:ea typeface="微软雅黑 Light" panose="020B0502040204020203" charset="-122"/>
              </a:rPr>
              <a:t>PRESENTATION</a:t>
            </a:r>
            <a:endParaRPr lang="en-US" altLang="zh-CN" sz="2200" b="1">
              <a:solidFill>
                <a:srgbClr val="701E5E"/>
              </a:solidFill>
              <a:latin typeface="微软雅黑 Light" panose="020B0502040204020203" charset="-122"/>
              <a:ea typeface="微软雅黑 Light" panose="020B0502040204020203"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80000"/>
          </a:srgbClr>
        </a:solidFill>
        <a:effectLst/>
      </p:bgPr>
    </p:bg>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a:latin typeface="微软雅黑" panose="020B0503020204020204" pitchFamily="34" charset="-122"/>
                <a:ea typeface="微软雅黑" panose="020B0503020204020204" pitchFamily="34" charset="-122"/>
              </a:rPr>
              <a:t>PART</a:t>
            </a:r>
            <a:endParaRPr lang="en-US" altLang="zh-CN" sz="4000" b="1">
              <a:latin typeface="微软雅黑" panose="020B0503020204020204" pitchFamily="34" charset="-122"/>
              <a:ea typeface="微软雅黑" panose="020B0503020204020204" pitchFamily="34" charset="-122"/>
            </a:endParaRPr>
          </a:p>
          <a:p>
            <a:pPr algn="ctr" fontAlgn="auto">
              <a:lnSpc>
                <a:spcPts val="4000"/>
              </a:lnSpc>
            </a:pPr>
            <a:r>
              <a:rPr lang="en-US" altLang="zh-CN" sz="4000" b="1">
                <a:latin typeface="微软雅黑" panose="020B0503020204020204" pitchFamily="34" charset="-122"/>
                <a:ea typeface="微软雅黑" panose="020B0503020204020204" pitchFamily="34" charset="-122"/>
              </a:rPr>
              <a:t>1</a:t>
            </a:r>
            <a:endParaRPr lang="en-US" altLang="zh-CN" sz="4000" b="1">
              <a:latin typeface="微软雅黑" panose="020B0503020204020204" pitchFamily="34" charset="-122"/>
              <a:ea typeface="微软雅黑" panose="020B0503020204020204" pitchFamily="34" charset="-122"/>
            </a:endParaRPr>
          </a:p>
        </p:txBody>
      </p:sp>
      <p:sp>
        <p:nvSpPr>
          <p:cNvPr id="9240" name="文本框 47"/>
          <p:cNvSpPr txBox="1"/>
          <p:nvPr/>
        </p:nvSpPr>
        <p:spPr>
          <a:xfrm>
            <a:off x="6429058" y="2884805"/>
            <a:ext cx="5762625" cy="1014730"/>
          </a:xfrm>
          <a:prstGeom prst="rect">
            <a:avLst/>
          </a:prstGeom>
          <a:noFill/>
          <a:ln w="9525">
            <a:noFill/>
          </a:ln>
        </p:spPr>
        <p:txBody>
          <a:bodyPr vert="horz" wrap="square" anchor="t">
            <a:spAutoFit/>
          </a:bodyPr>
          <a:lstStyle/>
          <a:p>
            <a:pPr lvl="0" algn="ctr">
              <a:buClrTx/>
              <a:buSzTx/>
              <a:buFontTx/>
            </a:pP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实验</a:t>
            </a: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过程分享</a:t>
            </a:r>
            <a:endPar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307840" y="218440"/>
            <a:ext cx="3519170" cy="718185"/>
          </a:xfrm>
          <a:prstGeom prst="roundRect">
            <a:avLst>
              <a:gd name="adj" fmla="val 49999"/>
            </a:avLst>
          </a:prstGeom>
          <a:solidFill>
            <a:srgbClr val="701E5E"/>
          </a:solidFill>
        </p:spPr>
        <p:txBody>
          <a:bodyPr wrap="square" rtlCol="0" anchor="t">
            <a:noAutofit/>
          </a:bodyPr>
          <a:lstStyle/>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Lab03-02.dll</a:t>
            </a:r>
            <a:endParaRPr lang="en-US" altLang="zh-CN"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29" name="组合 28"/>
          <p:cNvGrpSpPr/>
          <p:nvPr>
            <p:custDataLst>
              <p:tags r:id="rId1"/>
            </p:custDataLst>
          </p:nvPr>
        </p:nvGrpSpPr>
        <p:grpSpPr>
          <a:xfrm>
            <a:off x="675926" y="1415732"/>
            <a:ext cx="6112859" cy="1233295"/>
            <a:chOff x="675926" y="1415732"/>
            <a:chExt cx="6112859" cy="1233295"/>
          </a:xfrm>
        </p:grpSpPr>
        <p:grpSp>
          <p:nvGrpSpPr>
            <p:cNvPr id="78" name="组合 77"/>
            <p:cNvGrpSpPr/>
            <p:nvPr>
              <p:custDataLst>
                <p:tags r:id="rId2"/>
              </p:custDataLst>
            </p:nvPr>
          </p:nvGrpSpPr>
          <p:grpSpPr>
            <a:xfrm>
              <a:off x="675926" y="1415732"/>
              <a:ext cx="4598670" cy="1233295"/>
              <a:chOff x="1478" y="3883"/>
              <a:chExt cx="7242" cy="1942"/>
            </a:xfrm>
          </p:grpSpPr>
          <p:sp>
            <p:nvSpPr>
              <p:cNvPr id="79" name="333333"/>
              <p:cNvSpPr txBox="1"/>
              <p:nvPr>
                <p:custDataLst>
                  <p:tags r:id="rId3"/>
                </p:custDataLst>
              </p:nvPr>
            </p:nvSpPr>
            <p:spPr>
              <a:xfrm>
                <a:off x="1478" y="3883"/>
                <a:ext cx="1811"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静态分析</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80" name="1111"/>
              <p:cNvSpPr txBox="1"/>
              <p:nvPr>
                <p:custDataLst>
                  <p:tags r:id="rId4"/>
                </p:custDataLst>
              </p:nvPr>
            </p:nvSpPr>
            <p:spPr>
              <a:xfrm>
                <a:off x="1478" y="4518"/>
                <a:ext cx="7242" cy="1307"/>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rPr>
                  <a:t>可知这个恶意代码需要使用导出函数installA将自身注册为一个服务</a:t>
                </a:r>
                <a:endParaRPr lang="zh-CN" altLang="en-US" sz="1600" dirty="0">
                  <a:solidFill>
                    <a:srgbClr val="262626"/>
                  </a:solidFill>
                  <a:latin typeface="华文中宋" panose="02010600040101010101" pitchFamily="2" charset="-122"/>
                  <a:ea typeface="华文中宋" panose="02010600040101010101" pitchFamily="2" charset="-122"/>
                </a:endParaRPr>
              </a:p>
            </p:txBody>
          </p:sp>
        </p:grpSp>
        <p:grpSp>
          <p:nvGrpSpPr>
            <p:cNvPr id="4" name="组合 3"/>
            <p:cNvGrpSpPr/>
            <p:nvPr/>
          </p:nvGrpSpPr>
          <p:grpSpPr>
            <a:xfrm>
              <a:off x="5855970" y="1417320"/>
              <a:ext cx="932815" cy="828040"/>
              <a:chOff x="8696" y="2232"/>
              <a:chExt cx="1469" cy="1304"/>
            </a:xfrm>
            <a:solidFill>
              <a:srgbClr val="C65844"/>
            </a:solidFill>
          </p:grpSpPr>
          <p:sp>
            <p:nvSpPr>
              <p:cNvPr id="2" name="八角星 1"/>
              <p:cNvSpPr/>
              <p:nvPr>
                <p:custDataLst>
                  <p:tags r:id="rId5"/>
                </p:custDataLst>
              </p:nvPr>
            </p:nvSpPr>
            <p:spPr>
              <a:xfrm>
                <a:off x="9029" y="2232"/>
                <a:ext cx="1136" cy="1136"/>
              </a:xfrm>
              <a:prstGeom prst="star8">
                <a:avLst>
                  <a:gd name="adj" fmla="val 38556"/>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01</a:t>
                </a:r>
                <a:endParaRPr lang="en-US" altLang="zh-CN"/>
              </a:p>
            </p:txBody>
          </p:sp>
          <p:sp>
            <p:nvSpPr>
              <p:cNvPr id="3" name="右箭头 2"/>
              <p:cNvSpPr/>
              <p:nvPr>
                <p:custDataLst>
                  <p:tags r:id="rId6"/>
                </p:custDataLst>
              </p:nvPr>
            </p:nvSpPr>
            <p:spPr>
              <a:xfrm rot="8100000">
                <a:off x="8696" y="3008"/>
                <a:ext cx="837" cy="528"/>
              </a:xfrm>
              <a:prstGeom prst="rightArrow">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1" name="组合 30"/>
          <p:cNvGrpSpPr/>
          <p:nvPr>
            <p:custDataLst>
              <p:tags r:id="rId7"/>
            </p:custDataLst>
          </p:nvPr>
        </p:nvGrpSpPr>
        <p:grpSpPr>
          <a:xfrm>
            <a:off x="532765" y="3150433"/>
            <a:ext cx="6256020" cy="2505330"/>
            <a:chOff x="532765" y="3150433"/>
            <a:chExt cx="6256020" cy="2505330"/>
          </a:xfrm>
        </p:grpSpPr>
        <p:grpSp>
          <p:nvGrpSpPr>
            <p:cNvPr id="5" name="组合 4"/>
            <p:cNvGrpSpPr/>
            <p:nvPr/>
          </p:nvGrpSpPr>
          <p:grpSpPr>
            <a:xfrm>
              <a:off x="5855970" y="4006850"/>
              <a:ext cx="932815" cy="828040"/>
              <a:chOff x="8696" y="2232"/>
              <a:chExt cx="1469" cy="1304"/>
            </a:xfrm>
            <a:solidFill>
              <a:srgbClr val="C65844"/>
            </a:solidFill>
          </p:grpSpPr>
          <p:sp>
            <p:nvSpPr>
              <p:cNvPr id="6" name="八角星 5"/>
              <p:cNvSpPr/>
              <p:nvPr>
                <p:custDataLst>
                  <p:tags r:id="rId8"/>
                </p:custDataLst>
              </p:nvPr>
            </p:nvSpPr>
            <p:spPr>
              <a:xfrm>
                <a:off x="9029" y="2232"/>
                <a:ext cx="1136" cy="1136"/>
              </a:xfrm>
              <a:prstGeom prst="star8">
                <a:avLst>
                  <a:gd name="adj" fmla="val 38028"/>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03</a:t>
                </a:r>
                <a:endParaRPr lang="en-US" altLang="zh-CN"/>
              </a:p>
            </p:txBody>
          </p:sp>
          <p:sp>
            <p:nvSpPr>
              <p:cNvPr id="7" name="右箭头 6"/>
              <p:cNvSpPr/>
              <p:nvPr>
                <p:custDataLst>
                  <p:tags r:id="rId9"/>
                </p:custDataLst>
              </p:nvPr>
            </p:nvSpPr>
            <p:spPr>
              <a:xfrm rot="8100000">
                <a:off x="8696" y="3008"/>
                <a:ext cx="837" cy="528"/>
              </a:xfrm>
              <a:prstGeom prst="rightArrow">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0"/>
              </p:custDataLst>
            </p:nvPr>
          </p:nvGrpSpPr>
          <p:grpSpPr>
            <a:xfrm>
              <a:off x="532765" y="3150433"/>
              <a:ext cx="4598670" cy="2505330"/>
              <a:chOff x="1367" y="2954"/>
              <a:chExt cx="7242" cy="3945"/>
            </a:xfrm>
          </p:grpSpPr>
          <p:sp>
            <p:nvSpPr>
              <p:cNvPr id="21" name="333333"/>
              <p:cNvSpPr txBox="1"/>
              <p:nvPr>
                <p:custDataLst>
                  <p:tags r:id="rId11"/>
                </p:custDataLst>
              </p:nvPr>
            </p:nvSpPr>
            <p:spPr>
              <a:xfrm>
                <a:off x="1478" y="2954"/>
                <a:ext cx="1811"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快照</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信息</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2" name="1111"/>
              <p:cNvSpPr txBox="1"/>
              <p:nvPr>
                <p:custDataLst>
                  <p:tags r:id="rId12"/>
                </p:custDataLst>
              </p:nvPr>
            </p:nvSpPr>
            <p:spPr>
              <a:xfrm>
                <a:off x="1367" y="3653"/>
                <a:ext cx="7242" cy="3246"/>
              </a:xfrm>
              <a:prstGeom prst="rect">
                <a:avLst/>
              </a:prstGeom>
              <a:noFill/>
              <a:ln w="9525">
                <a:noFill/>
              </a:ln>
            </p:spPr>
            <p:txBody>
              <a:bodyPr wrap="square" anchor="t">
                <a:spAutoFit/>
              </a:bodyPr>
              <a:lstStyle/>
              <a:p>
                <a:pPr marL="0" indent="0">
                  <a:spcBef>
                    <a:spcPct val="0"/>
                  </a:spcBef>
                  <a:spcAft>
                    <a:spcPct val="0"/>
                  </a:spcAft>
                  <a:buAutoNum type="arabicPeriod"/>
                </a:pPr>
                <a:r>
                  <a:rPr lang="zh-CN" altLang="en-US" sz="1600">
                    <a:solidFill>
                      <a:srgbClr val="333333"/>
                    </a:solidFill>
                    <a:latin typeface="Open Sans"/>
                    <a:ea typeface="Open Sans"/>
                    <a:sym typeface="+mn-ea"/>
                  </a:rPr>
                  <a:t>首先显示了恶意代码将自身安装为</a:t>
                </a:r>
                <a:r>
                  <a:rPr lang="en-US" altLang="zh-CN" sz="1600">
                    <a:solidFill>
                      <a:srgbClr val="333333"/>
                    </a:solidFill>
                    <a:latin typeface="Open Sans"/>
                    <a:ea typeface="Open Sans"/>
                    <a:sym typeface="+mn-ea"/>
                  </a:rPr>
                  <a:t>IPRIP</a:t>
                </a:r>
                <a:r>
                  <a:rPr lang="zh-CN" altLang="en-US" sz="1600">
                    <a:solidFill>
                      <a:srgbClr val="333333"/>
                    </a:solidFill>
                    <a:latin typeface="Open Sans"/>
                    <a:ea typeface="Open Sans"/>
                    <a:sym typeface="+mn-ea"/>
                  </a:rPr>
                  <a:t>服务，由于这个恶意代码是个</a:t>
                </a:r>
                <a:r>
                  <a:rPr lang="en-US" altLang="zh-CN" sz="1600">
                    <a:solidFill>
                      <a:srgbClr val="333333"/>
                    </a:solidFill>
                    <a:latin typeface="Open Sans"/>
                    <a:ea typeface="Open Sans"/>
                    <a:sym typeface="+mn-ea"/>
                  </a:rPr>
                  <a:t>DLL</a:t>
                </a:r>
                <a:r>
                  <a:rPr lang="zh-CN" altLang="en-US" sz="1600">
                    <a:solidFill>
                      <a:srgbClr val="333333"/>
                    </a:solidFill>
                    <a:latin typeface="Open Sans"/>
                    <a:ea typeface="Open Sans"/>
                    <a:sym typeface="+mn-ea"/>
                  </a:rPr>
                  <a:t>文件，它依赖于一个可执行文件来执行它。</a:t>
                </a:r>
                <a:endParaRPr lang="zh-CN" altLang="en-US" sz="1600" b="0" i="0">
                  <a:solidFill>
                    <a:srgbClr val="333333"/>
                  </a:solidFill>
                  <a:latin typeface="Open Sans"/>
                  <a:ea typeface="Open Sans"/>
                </a:endParaRPr>
              </a:p>
              <a:p>
                <a:pPr marL="0" indent="0">
                  <a:spcBef>
                    <a:spcPct val="0"/>
                  </a:spcBef>
                  <a:spcAft>
                    <a:spcPct val="0"/>
                  </a:spcAft>
                  <a:buAutoNum type="arabicPeriod"/>
                </a:pPr>
                <a:r>
                  <a:rPr lang="zh-CN" altLang="en-US" sz="1600">
                    <a:solidFill>
                      <a:srgbClr val="333333"/>
                    </a:solidFill>
                    <a:latin typeface="Open Sans"/>
                    <a:ea typeface="Open Sans"/>
                    <a:sym typeface="+mn-ea"/>
                  </a:rPr>
                  <a:t>另外看到</a:t>
                </a:r>
                <a:r>
                  <a:rPr lang="en-US" altLang="zh-CN" sz="1600">
                    <a:solidFill>
                      <a:srgbClr val="333333"/>
                    </a:solidFill>
                    <a:latin typeface="Open Sans"/>
                    <a:ea typeface="Open Sans"/>
                    <a:sym typeface="+mn-ea"/>
                  </a:rPr>
                  <a:t>ImagePath</a:t>
                </a:r>
                <a:r>
                  <a:rPr lang="zh-CN" altLang="en-US" sz="1600">
                    <a:solidFill>
                      <a:srgbClr val="333333"/>
                    </a:solidFill>
                    <a:latin typeface="Open Sans"/>
                    <a:ea typeface="Open Sans"/>
                    <a:sym typeface="+mn-ea"/>
                  </a:rPr>
                  <a:t>被设置为</a:t>
                </a:r>
                <a:r>
                  <a:rPr lang="en-US" altLang="zh-CN" sz="1600">
                    <a:solidFill>
                      <a:srgbClr val="333333"/>
                    </a:solidFill>
                    <a:latin typeface="Open Sans"/>
                    <a:ea typeface="Open Sans"/>
                    <a:sym typeface="+mn-ea"/>
                  </a:rPr>
                  <a:t>svchos.exe</a:t>
                </a:r>
                <a:r>
                  <a:rPr lang="zh-CN" altLang="en-US" sz="1600">
                    <a:solidFill>
                      <a:srgbClr val="333333"/>
                    </a:solidFill>
                    <a:latin typeface="Open Sans"/>
                    <a:ea typeface="Open Sans"/>
                    <a:sym typeface="+mn-ea"/>
                  </a:rPr>
                  <a:t>，这意味着，这个恶意代码将会在一个</a:t>
                </a:r>
                <a:r>
                  <a:rPr lang="en-US" altLang="zh-CN" sz="1600">
                    <a:solidFill>
                      <a:srgbClr val="333333"/>
                    </a:solidFill>
                    <a:latin typeface="Open Sans"/>
                    <a:ea typeface="Open Sans"/>
                    <a:sym typeface="+mn-ea"/>
                  </a:rPr>
                  <a:t>svchost.exe</a:t>
                </a:r>
                <a:r>
                  <a:rPr lang="zh-CN" altLang="en-US" sz="1600">
                    <a:solidFill>
                      <a:srgbClr val="333333"/>
                    </a:solidFill>
                    <a:latin typeface="Open Sans"/>
                    <a:ea typeface="Open Sans"/>
                    <a:sym typeface="+mn-ea"/>
                  </a:rPr>
                  <a:t>进程中启动。</a:t>
                </a:r>
                <a:endParaRPr lang="zh-CN" altLang="en-US" sz="1600" b="0" i="0">
                  <a:solidFill>
                    <a:srgbClr val="333333"/>
                  </a:solidFill>
                  <a:latin typeface="Open Sans"/>
                  <a:ea typeface="Open Sans"/>
                </a:endParaRPr>
              </a:p>
              <a:p>
                <a:pPr marL="0" indent="0">
                  <a:spcBef>
                    <a:spcPct val="0"/>
                  </a:spcBef>
                  <a:spcAft>
                    <a:spcPct val="0"/>
                  </a:spcAft>
                  <a:buAutoNum type="arabicPeriod"/>
                </a:pPr>
                <a:r>
                  <a:rPr lang="zh-CN" altLang="en-US" sz="1600">
                    <a:solidFill>
                      <a:srgbClr val="333333"/>
                    </a:solidFill>
                    <a:latin typeface="Open Sans"/>
                    <a:ea typeface="Open Sans"/>
                    <a:sym typeface="+mn-ea"/>
                  </a:rPr>
                  <a:t>另外信息包括</a:t>
                </a:r>
                <a:r>
                  <a:rPr lang="en-US" altLang="zh-CN" sz="1600">
                    <a:solidFill>
                      <a:srgbClr val="333333"/>
                    </a:solidFill>
                    <a:latin typeface="Open Sans"/>
                    <a:ea typeface="Open Sans"/>
                    <a:sym typeface="+mn-ea"/>
                  </a:rPr>
                  <a:t>DisplayName</a:t>
                </a:r>
                <a:r>
                  <a:rPr lang="zh-CN" altLang="en-US" sz="1600">
                    <a:solidFill>
                      <a:srgbClr val="333333"/>
                    </a:solidFill>
                    <a:latin typeface="Open Sans"/>
                    <a:ea typeface="Open Sans"/>
                    <a:sym typeface="+mn-ea"/>
                  </a:rPr>
                  <a:t>和</a:t>
                </a:r>
                <a:r>
                  <a:rPr lang="en-US" altLang="zh-CN" sz="1600">
                    <a:solidFill>
                      <a:srgbClr val="333333"/>
                    </a:solidFill>
                    <a:latin typeface="Open Sans"/>
                    <a:ea typeface="Open Sans"/>
                    <a:sym typeface="+mn-ea"/>
                  </a:rPr>
                  <a:t>Description</a:t>
                </a:r>
                <a:r>
                  <a:rPr lang="zh-CN" altLang="en-US" sz="1600">
                    <a:solidFill>
                      <a:srgbClr val="333333"/>
                    </a:solidFill>
                    <a:latin typeface="Open Sans"/>
                    <a:ea typeface="Open Sans"/>
                    <a:sym typeface="+mn-ea"/>
                  </a:rPr>
                  <a:t>，可以作为识别这个恶意服务的独特指纹特征。</a:t>
                </a:r>
                <a:endParaRPr lang="zh-CN" altLang="en-US" sz="1600" dirty="0">
                  <a:solidFill>
                    <a:srgbClr val="262626"/>
                  </a:solidFill>
                  <a:latin typeface="华文中宋" panose="02010600040101010101" pitchFamily="2" charset="-122"/>
                  <a:ea typeface="华文中宋" panose="02010600040101010101" pitchFamily="2" charset="-122"/>
                </a:endParaRPr>
              </a:p>
            </p:txBody>
          </p:sp>
        </p:grpSp>
      </p:grpSp>
      <p:grpSp>
        <p:nvGrpSpPr>
          <p:cNvPr id="30" name="组合 29"/>
          <p:cNvGrpSpPr/>
          <p:nvPr>
            <p:custDataLst>
              <p:tags r:id="rId13"/>
            </p:custDataLst>
          </p:nvPr>
        </p:nvGrpSpPr>
        <p:grpSpPr>
          <a:xfrm>
            <a:off x="5406390" y="2213569"/>
            <a:ext cx="6161622" cy="2466591"/>
            <a:chOff x="5400675" y="2303739"/>
            <a:chExt cx="6161622" cy="2466591"/>
          </a:xfrm>
        </p:grpSpPr>
        <p:grpSp>
          <p:nvGrpSpPr>
            <p:cNvPr id="8" name="组合 7"/>
            <p:cNvGrpSpPr/>
            <p:nvPr/>
          </p:nvGrpSpPr>
          <p:grpSpPr>
            <a:xfrm flipH="1">
              <a:off x="5400675" y="2712085"/>
              <a:ext cx="932815" cy="828040"/>
              <a:chOff x="8696" y="2232"/>
              <a:chExt cx="1469" cy="1304"/>
            </a:xfrm>
            <a:solidFill>
              <a:srgbClr val="AEA19E"/>
            </a:solidFill>
          </p:grpSpPr>
          <p:sp>
            <p:nvSpPr>
              <p:cNvPr id="9" name="八角星 8"/>
              <p:cNvSpPr/>
              <p:nvPr>
                <p:custDataLst>
                  <p:tags r:id="rId14"/>
                </p:custDataLst>
              </p:nvPr>
            </p:nvSpPr>
            <p:spPr>
              <a:xfrm>
                <a:off x="9029" y="2232"/>
                <a:ext cx="1136" cy="1136"/>
              </a:xfrm>
              <a:prstGeom prst="star8">
                <a:avLst>
                  <a:gd name="adj" fmla="val 38028"/>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02</a:t>
                </a:r>
                <a:endParaRPr lang="en-US" altLang="zh-CN"/>
              </a:p>
            </p:txBody>
          </p:sp>
          <p:sp>
            <p:nvSpPr>
              <p:cNvPr id="10" name="右箭头 9"/>
              <p:cNvSpPr/>
              <p:nvPr>
                <p:custDataLst>
                  <p:tags r:id="rId15"/>
                </p:custDataLst>
              </p:nvPr>
            </p:nvSpPr>
            <p:spPr>
              <a:xfrm rot="8100000">
                <a:off x="8696" y="3008"/>
                <a:ext cx="837" cy="528"/>
              </a:xfrm>
              <a:prstGeom prst="rightArrow">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custDataLst>
                <p:tags r:id="rId16"/>
              </p:custDataLst>
            </p:nvPr>
          </p:nvGrpSpPr>
          <p:grpSpPr>
            <a:xfrm>
              <a:off x="6963627" y="2303739"/>
              <a:ext cx="4598670" cy="2466591"/>
              <a:chOff x="1485" y="3240"/>
              <a:chExt cx="7242" cy="3884"/>
            </a:xfrm>
          </p:grpSpPr>
          <p:sp>
            <p:nvSpPr>
              <p:cNvPr id="24" name="333333"/>
              <p:cNvSpPr txBox="1"/>
              <p:nvPr>
                <p:custDataLst>
                  <p:tags r:id="rId17"/>
                </p:custDataLst>
              </p:nvPr>
            </p:nvSpPr>
            <p:spPr>
              <a:xfrm>
                <a:off x="1485" y="3240"/>
                <a:ext cx="3628" cy="832"/>
              </a:xfrm>
              <a:prstGeom prst="rect">
                <a:avLst/>
              </a:prstGeom>
              <a:noFill/>
              <a:ln w="9525">
                <a:noFill/>
              </a:ln>
            </p:spPr>
            <p:txBody>
              <a:bodyPr wrap="square" anchor="t">
                <a:no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将代码安装为</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服务</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5" name="1111"/>
              <p:cNvSpPr txBox="1"/>
              <p:nvPr>
                <p:custDataLst>
                  <p:tags r:id="rId18"/>
                </p:custDataLst>
              </p:nvPr>
            </p:nvSpPr>
            <p:spPr>
              <a:xfrm>
                <a:off x="1485" y="4072"/>
                <a:ext cx="7242" cy="3052"/>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rPr>
                  <a:t>使用Regshot工具，来对注册表做个基线快照</a:t>
                </a:r>
                <a:endParaRPr lang="zh-CN" altLang="en-US" sz="1600" dirty="0">
                  <a:solidFill>
                    <a:srgbClr val="262626"/>
                  </a:solidFill>
                  <a:latin typeface="华文中宋" panose="02010600040101010101" pitchFamily="2" charset="-122"/>
                  <a:ea typeface="华文中宋" panose="02010600040101010101" pitchFamily="2" charset="-122"/>
                </a:endParaRPr>
              </a:p>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rPr>
                  <a:t>使用ProcessExplorer来监控在系统上运行的进程</a:t>
                </a:r>
                <a:endParaRPr lang="zh-CN" altLang="en-US" sz="1600" dirty="0">
                  <a:solidFill>
                    <a:srgbClr val="262626"/>
                  </a:solidFill>
                  <a:latin typeface="华文中宋" panose="02010600040101010101" pitchFamily="2" charset="-122"/>
                  <a:ea typeface="华文中宋" panose="02010600040101010101" pitchFamily="2" charset="-122"/>
                </a:endParaRPr>
              </a:p>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rPr>
                  <a:t>使用rundll32.exe来安装恶意代码</a:t>
                </a:r>
                <a:endParaRPr lang="zh-CN" altLang="en-US" sz="1600" dirty="0">
                  <a:solidFill>
                    <a:srgbClr val="262626"/>
                  </a:solidFill>
                  <a:latin typeface="华文中宋" panose="02010600040101010101" pitchFamily="2" charset="-122"/>
                  <a:ea typeface="华文中宋" panose="02010600040101010101" pitchFamily="2" charset="-122"/>
                </a:endParaRPr>
              </a:p>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rPr>
                  <a:t>确保rundll32.exe已经终止后，使用Regshot工具做第二个快照</a:t>
                </a:r>
                <a:endParaRPr lang="zh-CN" altLang="en-US" sz="1600" dirty="0">
                  <a:solidFill>
                    <a:srgbClr val="262626"/>
                  </a:solidFill>
                  <a:latin typeface="华文中宋" panose="02010600040101010101" pitchFamily="2" charset="-122"/>
                  <a:ea typeface="华文中宋" panose="02010600040101010101" pitchFamily="2" charset="-122"/>
                </a:endParaRPr>
              </a:p>
            </p:txBody>
          </p:sp>
        </p:grpSp>
      </p:grpSp>
      <p:grpSp>
        <p:nvGrpSpPr>
          <p:cNvPr id="32" name="组合 31"/>
          <p:cNvGrpSpPr/>
          <p:nvPr>
            <p:custDataLst>
              <p:tags r:id="rId19"/>
            </p:custDataLst>
          </p:nvPr>
        </p:nvGrpSpPr>
        <p:grpSpPr>
          <a:xfrm>
            <a:off x="5400675" y="4824560"/>
            <a:ext cx="6021006" cy="1960444"/>
            <a:chOff x="5400675" y="4824560"/>
            <a:chExt cx="6021006" cy="1960444"/>
          </a:xfrm>
        </p:grpSpPr>
        <p:grpSp>
          <p:nvGrpSpPr>
            <p:cNvPr id="15" name="组合 14"/>
            <p:cNvGrpSpPr/>
            <p:nvPr/>
          </p:nvGrpSpPr>
          <p:grpSpPr>
            <a:xfrm flipH="1">
              <a:off x="5400675" y="5301615"/>
              <a:ext cx="932815" cy="828040"/>
              <a:chOff x="8696" y="2232"/>
              <a:chExt cx="1469" cy="1304"/>
            </a:xfrm>
            <a:solidFill>
              <a:srgbClr val="AEA19E"/>
            </a:solidFill>
          </p:grpSpPr>
          <p:sp>
            <p:nvSpPr>
              <p:cNvPr id="16" name="八角星 15"/>
              <p:cNvSpPr/>
              <p:nvPr>
                <p:custDataLst>
                  <p:tags r:id="rId20"/>
                </p:custDataLst>
              </p:nvPr>
            </p:nvSpPr>
            <p:spPr>
              <a:xfrm>
                <a:off x="9029" y="2232"/>
                <a:ext cx="1136" cy="1136"/>
              </a:xfrm>
              <a:prstGeom prst="star8">
                <a:avLst>
                  <a:gd name="adj" fmla="val 38028"/>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04</a:t>
                </a:r>
                <a:endParaRPr lang="en-US" altLang="zh-CN"/>
              </a:p>
            </p:txBody>
          </p:sp>
          <p:sp>
            <p:nvSpPr>
              <p:cNvPr id="17" name="右箭头 16"/>
              <p:cNvSpPr/>
              <p:nvPr>
                <p:custDataLst>
                  <p:tags r:id="rId21"/>
                </p:custDataLst>
              </p:nvPr>
            </p:nvSpPr>
            <p:spPr>
              <a:xfrm rot="8100000">
                <a:off x="8696" y="3008"/>
                <a:ext cx="837" cy="528"/>
              </a:xfrm>
              <a:prstGeom prst="rightArrow">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custDataLst>
                <p:tags r:id="rId22"/>
              </p:custDataLst>
            </p:nvPr>
          </p:nvGrpSpPr>
          <p:grpSpPr>
            <a:xfrm>
              <a:off x="6428041" y="4824560"/>
              <a:ext cx="4993640" cy="1960444"/>
              <a:chOff x="633" y="4469"/>
              <a:chExt cx="7864" cy="3087"/>
            </a:xfrm>
          </p:grpSpPr>
          <p:sp>
            <p:nvSpPr>
              <p:cNvPr id="27" name="333333"/>
              <p:cNvSpPr txBox="1"/>
              <p:nvPr>
                <p:custDataLst>
                  <p:tags r:id="rId23"/>
                </p:custDataLst>
              </p:nvPr>
            </p:nvSpPr>
            <p:spPr>
              <a:xfrm>
                <a:off x="1485" y="4469"/>
                <a:ext cx="6236" cy="518"/>
              </a:xfrm>
              <a:prstGeom prst="rect">
                <a:avLst/>
              </a:prstGeom>
              <a:noFill/>
              <a:ln w="9525">
                <a:noFill/>
              </a:ln>
            </p:spPr>
            <p:txBody>
              <a:bodyPr wrap="square" anchor="t">
                <a:no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运行恶意代码进行</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网络分析</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8" name="1111"/>
              <p:cNvSpPr txBox="1"/>
              <p:nvPr>
                <p:custDataLst>
                  <p:tags r:id="rId24"/>
                </p:custDataLst>
              </p:nvPr>
            </p:nvSpPr>
            <p:spPr>
              <a:xfrm>
                <a:off x="633" y="5221"/>
                <a:ext cx="7864" cy="2335"/>
              </a:xfrm>
              <a:prstGeom prst="rect">
                <a:avLst/>
              </a:prstGeom>
              <a:noFill/>
              <a:ln w="9525">
                <a:noFill/>
              </a:ln>
            </p:spPr>
            <p:txBody>
              <a:bodyPr wrap="square" anchor="t">
                <a:noAutofit/>
              </a:bodyPr>
              <a:lstStyle/>
              <a:p>
                <a:pPr marL="0" indent="0">
                  <a:spcBef>
                    <a:spcPct val="0"/>
                  </a:spcBef>
                  <a:spcAft>
                    <a:spcPct val="0"/>
                  </a:spcAft>
                  <a:buNone/>
                </a:pPr>
                <a:r>
                  <a:rPr lang="zh-CN" altLang="en-US" sz="1600" dirty="0">
                    <a:solidFill>
                      <a:srgbClr val="262626"/>
                    </a:solidFill>
                    <a:latin typeface="华文中宋" panose="02010600040101010101" pitchFamily="2" charset="-122"/>
                    <a:ea typeface="华文中宋" panose="02010600040101010101" pitchFamily="2" charset="-122"/>
                  </a:rPr>
                  <a:t>恶意代码申请解析域名 `practicalmalwareanabysis.com`，然后通过80端口连接到这台主机，使用的协议是HTTP协议。它在做一个GET请求`serve.html`，使用的用户代理为`dell-cdce31a6e0 windows XP6.11`。</a:t>
                </a:r>
                <a:endParaRPr lang="zh-CN" altLang="en-US" sz="1600" dirty="0">
                  <a:solidFill>
                    <a:srgbClr val="262626"/>
                  </a:solidFill>
                  <a:latin typeface="华文中宋" panose="02010600040101010101" pitchFamily="2" charset="-122"/>
                  <a:ea typeface="华文中宋" panose="02010600040101010101" pitchFamily="2" charset="-122"/>
                </a:endParaRPr>
              </a:p>
            </p:txBody>
          </p:sp>
        </p:grpSp>
      </p:grpSp>
      <p:grpSp>
        <p:nvGrpSpPr>
          <p:cNvPr id="11" name="组合 10"/>
          <p:cNvGrpSpPr/>
          <p:nvPr>
            <p:custDataLst>
              <p:tags r:id="rId25"/>
            </p:custDataLst>
          </p:nvPr>
        </p:nvGrpSpPr>
        <p:grpSpPr>
          <a:xfrm>
            <a:off x="9564651" y="551815"/>
            <a:ext cx="1731010" cy="1731010"/>
            <a:chOff x="1566" y="1709"/>
            <a:chExt cx="2726" cy="2726"/>
          </a:xfrm>
        </p:grpSpPr>
        <p:sp>
          <p:nvSpPr>
            <p:cNvPr id="12" name="八角星 30"/>
            <p:cNvSpPr/>
            <p:nvPr>
              <p:custDataLst>
                <p:tags r:id="rId26"/>
              </p:custDataLst>
            </p:nvPr>
          </p:nvSpPr>
          <p:spPr>
            <a:xfrm>
              <a:off x="1648" y="178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八角星 31"/>
            <p:cNvSpPr/>
            <p:nvPr>
              <p:custDataLst>
                <p:tags r:id="rId27"/>
              </p:custDataLst>
            </p:nvPr>
          </p:nvSpPr>
          <p:spPr>
            <a:xfrm>
              <a:off x="1566" y="1709"/>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descr="303b32303139323730333bc7a6b1ca"/>
            <p:cNvPicPr>
              <a:picLocks noChangeAspect="1"/>
            </p:cNvPicPr>
            <p:nvPr>
              <p:custDataLst>
                <p:tags r:id="rId28"/>
              </p:custDataLst>
            </p:nvPr>
          </p:nvPicPr>
          <p:blipFill>
            <a:blip r:embed="rId29"/>
            <a:stretch>
              <a:fillRect/>
            </a:stretch>
          </p:blipFill>
          <p:spPr>
            <a:xfrm>
              <a:off x="2315" y="2480"/>
              <a:ext cx="1228" cy="1228"/>
            </a:xfrm>
            <a:prstGeom prst="rect">
              <a:avLst/>
            </a:prstGeom>
          </p:spPr>
        </p:pic>
      </p:grpSp>
      <p:pic>
        <p:nvPicPr>
          <p:cNvPr id="35" name="图片 34"/>
          <p:cNvPicPr>
            <a:picLocks noChangeAspect="1"/>
          </p:cNvPicPr>
          <p:nvPr/>
        </p:nvPicPr>
        <p:blipFill>
          <a:blip r:embed="rId30"/>
          <a:stretch>
            <a:fillRect/>
          </a:stretch>
        </p:blipFill>
        <p:spPr>
          <a:xfrm>
            <a:off x="1024255" y="1041400"/>
            <a:ext cx="9795510" cy="5139690"/>
          </a:xfrm>
          <a:prstGeom prst="rect">
            <a:avLst/>
          </a:prstGeom>
        </p:spPr>
      </p:pic>
      <p:pic>
        <p:nvPicPr>
          <p:cNvPr id="36" name="图片 35"/>
          <p:cNvPicPr>
            <a:picLocks noChangeAspect="1"/>
          </p:cNvPicPr>
          <p:nvPr/>
        </p:nvPicPr>
        <p:blipFill>
          <a:blip r:embed="rId31"/>
          <a:stretch>
            <a:fillRect/>
          </a:stretch>
        </p:blipFill>
        <p:spPr>
          <a:xfrm>
            <a:off x="299720" y="940435"/>
            <a:ext cx="11591925" cy="2438400"/>
          </a:xfrm>
          <a:prstGeom prst="rect">
            <a:avLst/>
          </a:prstGeom>
        </p:spPr>
      </p:pic>
      <p:pic>
        <p:nvPicPr>
          <p:cNvPr id="37" name="图片 36"/>
          <p:cNvPicPr>
            <a:picLocks noChangeAspect="1"/>
          </p:cNvPicPr>
          <p:nvPr/>
        </p:nvPicPr>
        <p:blipFill>
          <a:blip r:embed="rId32"/>
          <a:stretch>
            <a:fillRect/>
          </a:stretch>
        </p:blipFill>
        <p:spPr>
          <a:xfrm>
            <a:off x="1966595" y="2114550"/>
            <a:ext cx="8258175" cy="2628900"/>
          </a:xfrm>
          <a:prstGeom prst="rect">
            <a:avLst/>
          </a:prstGeom>
        </p:spPr>
      </p:pic>
    </p:spTree>
    <p:custDataLst>
      <p:tags r:id="rId33"/>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12" presetClass="exit" presetSubtype="4" fill="hold" nodeType="withEffect">
                                  <p:stCondLst>
                                    <p:cond delay="0"/>
                                  </p:stCondLst>
                                  <p:childTnLst>
                                    <p:anim calcmode="lin" valueType="num">
                                      <p:cBhvr additive="base">
                                        <p:cTn id="20" dur="500"/>
                                        <p:tgtEl>
                                          <p:spTgt spid="35"/>
                                        </p:tgtEl>
                                        <p:attrNameLst>
                                          <p:attrName>ppt_y</p:attrName>
                                        </p:attrNameLst>
                                      </p:cBhvr>
                                      <p:tavLst>
                                        <p:tav tm="0">
                                          <p:val>
                                            <p:strVal val="#ppt_y"/>
                                          </p:val>
                                        </p:tav>
                                        <p:tav tm="100000">
                                          <p:val>
                                            <p:strVal val="#ppt_y+#ppt_h*1.125000"/>
                                          </p:val>
                                        </p:tav>
                                      </p:tavLst>
                                    </p:anim>
                                    <p:animEffect transition="out" filter="wipe(down)">
                                      <p:cBhvr>
                                        <p:cTn id="21" dur="500"/>
                                        <p:tgtEl>
                                          <p:spTgt spid="35"/>
                                        </p:tgtEl>
                                      </p:cBhvr>
                                    </p:animEffect>
                                    <p:set>
                                      <p:cBhvr>
                                        <p:cTn id="22" dur="1" fill="hold">
                                          <p:stCondLst>
                                            <p:cond delay="499"/>
                                          </p:stCondLst>
                                        </p:cTn>
                                        <p:tgtEl>
                                          <p:spTgt spid="3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par>
                                <p:cTn id="39" presetID="12" presetClass="exit" presetSubtype="4" fill="hold" nodeType="withEffect">
                                  <p:stCondLst>
                                    <p:cond delay="0"/>
                                  </p:stCondLst>
                                  <p:childTnLst>
                                    <p:anim calcmode="lin" valueType="num">
                                      <p:cBhvr additive="base">
                                        <p:cTn id="40" dur="500"/>
                                        <p:tgtEl>
                                          <p:spTgt spid="36"/>
                                        </p:tgtEl>
                                        <p:attrNameLst>
                                          <p:attrName>ppt_y</p:attrName>
                                        </p:attrNameLst>
                                      </p:cBhvr>
                                      <p:tavLst>
                                        <p:tav tm="0">
                                          <p:val>
                                            <p:strVal val="#ppt_y"/>
                                          </p:val>
                                        </p:tav>
                                        <p:tav tm="100000">
                                          <p:val>
                                            <p:strVal val="#ppt_y+#ppt_h*1.125000"/>
                                          </p:val>
                                        </p:tav>
                                      </p:tavLst>
                                    </p:anim>
                                    <p:animEffect transition="out" filter="wipe(down)">
                                      <p:cBhvr>
                                        <p:cTn id="41" dur="500"/>
                                        <p:tgtEl>
                                          <p:spTgt spid="36"/>
                                        </p:tgtEl>
                                      </p:cBhvr>
                                    </p:animEffect>
                                    <p:set>
                                      <p:cBhvr>
                                        <p:cTn id="42" dur="1" fill="hold">
                                          <p:stCondLst>
                                            <p:cond delay="499"/>
                                          </p:stCondLst>
                                        </p:cTn>
                                        <p:tgtEl>
                                          <p:spTgt spid="3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47320" y="5591810"/>
            <a:ext cx="11897995" cy="1119600"/>
          </a:xfrm>
          <a:prstGeom prst="rect">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pic>
        <p:nvPicPr>
          <p:cNvPr id="100" name="图片 99"/>
          <p:cNvPicPr/>
          <p:nvPr>
            <p:custDataLst>
              <p:tags r:id="rId1"/>
            </p:custDataLst>
          </p:nvPr>
        </p:nvPicPr>
        <p:blipFill>
          <a:blip r:embed="rId2"/>
          <a:srcRect l="14092" t="470" r="15010" b="5002"/>
          <a:stretch>
            <a:fillRect/>
          </a:stretch>
        </p:blipFill>
        <p:spPr>
          <a:xfrm>
            <a:off x="4860290" y="4184650"/>
            <a:ext cx="2471420" cy="2197100"/>
          </a:xfrm>
          <a:prstGeom prst="star8">
            <a:avLst>
              <a:gd name="adj" fmla="val 38202"/>
            </a:avLst>
          </a:prstGeom>
          <a:noFill/>
          <a:ln w="28575" cap="sq">
            <a:solidFill>
              <a:schemeClr val="bg1"/>
            </a:solidFill>
            <a:miter lim="800000"/>
            <a:headEnd/>
            <a:tailEnd/>
          </a:ln>
        </p:spPr>
      </p:pic>
      <p:sp>
        <p:nvSpPr>
          <p:cNvPr id="4" name="文本框 3"/>
          <p:cNvSpPr txBox="1"/>
          <p:nvPr/>
        </p:nvSpPr>
        <p:spPr>
          <a:xfrm>
            <a:off x="3175000" y="158750"/>
            <a:ext cx="5842635" cy="9086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a:ln>
                  <a:noFill/>
                </a:ln>
                <a:solidFill>
                  <a:srgbClr val="701E5E"/>
                </a:solidFill>
                <a:effectLst/>
                <a:uLnTx/>
                <a:uFillTx/>
                <a:latin typeface="微软雅黑" panose="020B0503020204020204" pitchFamily="34" charset="-122"/>
                <a:ea typeface="微软雅黑" panose="020B0503020204020204" pitchFamily="34" charset="-122"/>
                <a:cs typeface="+mn-cs"/>
              </a:rPr>
              <a:t>基础动态分析</a:t>
            </a:r>
            <a:r>
              <a:rPr kumimoji="0" lang="zh-CN" altLang="en-US" sz="4800" b="1" i="0" u="none" strike="noStrike" kern="1200" cap="none" spc="0" normalizeH="0" baseline="0" noProof="0">
                <a:ln>
                  <a:noFill/>
                </a:ln>
                <a:solidFill>
                  <a:srgbClr val="701E5E"/>
                </a:solidFill>
                <a:effectLst/>
                <a:uLnTx/>
                <a:uFillTx/>
                <a:latin typeface="微软雅黑" panose="020B0503020204020204" pitchFamily="34" charset="-122"/>
                <a:ea typeface="微软雅黑" panose="020B0503020204020204" pitchFamily="34" charset="-122"/>
                <a:cs typeface="+mn-cs"/>
              </a:rPr>
              <a:t>过程</a:t>
            </a:r>
            <a:endParaRPr kumimoji="0" lang="zh-CN" altLang="en-US" sz="4800" b="1" i="0" u="none" strike="noStrike" kern="1200" cap="none" spc="0" normalizeH="0" baseline="0" noProof="0">
              <a:ln>
                <a:noFill/>
              </a:ln>
              <a:solidFill>
                <a:srgbClr val="701E5E"/>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p:cNvGrpSpPr/>
          <p:nvPr>
            <p:custDataLst>
              <p:tags r:id="rId3"/>
            </p:custDataLst>
          </p:nvPr>
        </p:nvGrpSpPr>
        <p:grpSpPr>
          <a:xfrm>
            <a:off x="147320" y="1320165"/>
            <a:ext cx="2687320" cy="998220"/>
            <a:chOff x="234" y="1980"/>
            <a:chExt cx="4232" cy="1572"/>
          </a:xfrm>
        </p:grpSpPr>
        <p:sp>
          <p:nvSpPr>
            <p:cNvPr id="8229" name="1111"/>
            <p:cNvSpPr txBox="1"/>
            <p:nvPr>
              <p:custDataLst>
                <p:tags r:id="rId4"/>
              </p:custDataLst>
            </p:nvPr>
          </p:nvSpPr>
          <p:spPr>
            <a:xfrm>
              <a:off x="1252" y="1980"/>
              <a:ext cx="3214" cy="682"/>
            </a:xfrm>
            <a:prstGeom prst="rect">
              <a:avLst/>
            </a:prstGeom>
            <a:noFill/>
            <a:ln w="9525">
              <a:noFill/>
            </a:ln>
          </p:spPr>
          <p:txBody>
            <a:bodyPr vert="horz" wrap="square" lIns="36195" rIns="36195" anchor="t">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静态分析</a:t>
              </a:r>
              <a:endPar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18" name="弦形 17"/>
            <p:cNvSpPr/>
            <p:nvPr>
              <p:custDataLst>
                <p:tags r:id="rId5"/>
              </p:custDataLst>
            </p:nvPr>
          </p:nvSpPr>
          <p:spPr>
            <a:xfrm>
              <a:off x="234" y="2032"/>
              <a:ext cx="1018" cy="1520"/>
            </a:xfrm>
            <a:prstGeom prst="chord">
              <a:avLst>
                <a:gd name="adj1" fmla="val 10723192"/>
                <a:gd name="adj2" fmla="val 0"/>
              </a:avLst>
            </a:prstGeom>
            <a:gradFill rotWithShape="0">
              <a:gsLst>
                <a:gs pos="0">
                  <a:srgbClr val="701E5E"/>
                </a:gs>
                <a:gs pos="100000">
                  <a:srgbClr val="AD4591">
                    <a:alpha val="80000"/>
                  </a:srgbClr>
                </a:gs>
              </a:gsLst>
              <a:lin ang="5400000" scaled="0"/>
            </a:gradFill>
            <a:ln>
              <a:solidFill>
                <a:schemeClr val="bg1">
                  <a:alpha val="30000"/>
                </a:schemeClr>
              </a:solidFill>
            </a:ln>
            <a:effectLst>
              <a:innerShdw blurRad="127000" dist="50800" dir="27000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0" rIns="36195" bIns="36195" numCol="1" spcCol="0" rtlCol="0" fromWordArt="0" anchor="t" anchorCtr="0" forceAA="0" compatLnSpc="1">
              <a:noAutofit/>
            </a:bodyPr>
            <a:lstStyle/>
            <a:p>
              <a:pPr marL="0" marR="0" lvl="0" indent="0" algn="ctr" defTabSz="914400" rtl="0" eaLnBrk="1" fontAlgn="auto" latinLnBrk="0" hangingPunct="1">
                <a:lnSpc>
                  <a:spcPts val="228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ea"/>
                </a:rPr>
                <a:t>01</a:t>
              </a:r>
              <a:endPar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1" name="组合 20"/>
          <p:cNvGrpSpPr/>
          <p:nvPr>
            <p:custDataLst>
              <p:tags r:id="rId6"/>
            </p:custDataLst>
          </p:nvPr>
        </p:nvGrpSpPr>
        <p:grpSpPr>
          <a:xfrm>
            <a:off x="2978785" y="1181735"/>
            <a:ext cx="2736850" cy="1137285"/>
            <a:chOff x="4691" y="1861"/>
            <a:chExt cx="4310" cy="1791"/>
          </a:xfrm>
        </p:grpSpPr>
        <p:sp>
          <p:nvSpPr>
            <p:cNvPr id="8" name="1111"/>
            <p:cNvSpPr txBox="1"/>
            <p:nvPr>
              <p:custDataLst>
                <p:tags r:id="rId7"/>
              </p:custDataLst>
            </p:nvPr>
          </p:nvSpPr>
          <p:spPr>
            <a:xfrm>
              <a:off x="5709" y="1861"/>
              <a:ext cx="3292" cy="1477"/>
            </a:xfrm>
            <a:prstGeom prst="rect">
              <a:avLst/>
            </a:prstGeom>
            <a:noFill/>
            <a:ln w="9525">
              <a:noFill/>
            </a:ln>
          </p:spPr>
          <p:txBody>
            <a:bodyPr vert="horz" wrap="square" lIns="36195" rIns="36195" anchor="t">
              <a:no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将恶意代码</a:t>
              </a:r>
              <a:endPar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安装为</a:t>
              </a: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服务</a:t>
              </a:r>
              <a:endPar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9" name="弦形 8"/>
            <p:cNvSpPr/>
            <p:nvPr>
              <p:custDataLst>
                <p:tags r:id="rId8"/>
              </p:custDataLst>
            </p:nvPr>
          </p:nvSpPr>
          <p:spPr>
            <a:xfrm>
              <a:off x="4691" y="2132"/>
              <a:ext cx="1018" cy="1520"/>
            </a:xfrm>
            <a:prstGeom prst="chord">
              <a:avLst>
                <a:gd name="adj1" fmla="val 10723192"/>
                <a:gd name="adj2" fmla="val 0"/>
              </a:avLst>
            </a:prstGeom>
            <a:gradFill rotWithShape="0">
              <a:gsLst>
                <a:gs pos="0">
                  <a:srgbClr val="701E5E"/>
                </a:gs>
                <a:gs pos="100000">
                  <a:srgbClr val="AD4591">
                    <a:alpha val="80000"/>
                  </a:srgbClr>
                </a:gs>
              </a:gsLst>
              <a:lin ang="5400000" scaled="0"/>
            </a:gradFill>
            <a:ln>
              <a:solidFill>
                <a:schemeClr val="bg1">
                  <a:alpha val="30000"/>
                </a:schemeClr>
              </a:solidFill>
            </a:ln>
            <a:effectLst>
              <a:innerShdw blurRad="127000" dist="50800" dir="27000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6195" tIns="0" rIns="36195" bIns="36195" rtlCol="0" anchor="t" anchorCtr="0"/>
            <a:lstStyle/>
            <a:p>
              <a:pPr marL="0" marR="0" lvl="0" indent="0" algn="ctr" defTabSz="914400" rtl="0" eaLnBrk="1" fontAlgn="auto" latinLnBrk="0" hangingPunct="1">
                <a:lnSpc>
                  <a:spcPts val="228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02</a:t>
              </a:r>
              <a:endPar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22" name="组合 21"/>
          <p:cNvGrpSpPr/>
          <p:nvPr>
            <p:custDataLst>
              <p:tags r:id="rId9"/>
            </p:custDataLst>
          </p:nvPr>
        </p:nvGrpSpPr>
        <p:grpSpPr>
          <a:xfrm>
            <a:off x="5950585" y="1320165"/>
            <a:ext cx="2884805" cy="998220"/>
            <a:chOff x="13462" y="2079"/>
            <a:chExt cx="4543" cy="1572"/>
          </a:xfrm>
        </p:grpSpPr>
        <p:sp>
          <p:nvSpPr>
            <p:cNvPr id="12" name="1111"/>
            <p:cNvSpPr txBox="1"/>
            <p:nvPr>
              <p:custDataLst>
                <p:tags r:id="rId10"/>
              </p:custDataLst>
            </p:nvPr>
          </p:nvSpPr>
          <p:spPr>
            <a:xfrm>
              <a:off x="14684" y="2079"/>
              <a:ext cx="3321" cy="994"/>
            </a:xfrm>
            <a:prstGeom prst="rect">
              <a:avLst/>
            </a:prstGeom>
            <a:noFill/>
            <a:ln w="9525">
              <a:noFill/>
            </a:ln>
          </p:spPr>
          <p:txBody>
            <a:bodyPr vert="horz" wrap="square" lIns="36195" rIns="36195" anchor="t">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运行</a:t>
              </a: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恶意代码</a:t>
              </a:r>
              <a:endPar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13" name="弦形 12"/>
            <p:cNvSpPr/>
            <p:nvPr>
              <p:custDataLst>
                <p:tags r:id="rId11"/>
              </p:custDataLst>
            </p:nvPr>
          </p:nvSpPr>
          <p:spPr>
            <a:xfrm>
              <a:off x="13462" y="2131"/>
              <a:ext cx="1018" cy="1520"/>
            </a:xfrm>
            <a:prstGeom prst="chord">
              <a:avLst>
                <a:gd name="adj1" fmla="val 10723192"/>
                <a:gd name="adj2" fmla="val 0"/>
              </a:avLst>
            </a:prstGeom>
            <a:gradFill rotWithShape="0">
              <a:gsLst>
                <a:gs pos="0">
                  <a:srgbClr val="701E5E"/>
                </a:gs>
                <a:gs pos="100000">
                  <a:srgbClr val="AD4591">
                    <a:alpha val="80000"/>
                  </a:srgbClr>
                </a:gs>
              </a:gsLst>
              <a:lin ang="5400000" scaled="0"/>
            </a:gradFill>
            <a:ln>
              <a:solidFill>
                <a:schemeClr val="bg1">
                  <a:alpha val="30000"/>
                </a:schemeClr>
              </a:solidFill>
            </a:ln>
            <a:effectLst>
              <a:innerShdw blurRad="127000" dist="50800" dir="27000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0" rIns="36195" bIns="36195" numCol="1" spcCol="0" rtlCol="0" fromWordArt="0" anchor="t" anchorCtr="0" forceAA="0" compatLnSpc="1">
              <a:noAutofit/>
            </a:bodyPr>
            <a:lstStyle/>
            <a:p>
              <a:pPr marL="0" marR="0" lvl="0" indent="0" algn="ctr" defTabSz="914400" rtl="0" eaLnBrk="1" fontAlgn="auto" latinLnBrk="0" hangingPunct="1">
                <a:lnSpc>
                  <a:spcPts val="228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ea"/>
                </a:rPr>
                <a:t>03</a:t>
              </a:r>
              <a:endPar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3" name="组合 22"/>
          <p:cNvGrpSpPr/>
          <p:nvPr>
            <p:custDataLst>
              <p:tags r:id="rId12"/>
            </p:custDataLst>
          </p:nvPr>
        </p:nvGrpSpPr>
        <p:grpSpPr>
          <a:xfrm>
            <a:off x="9123680" y="1280795"/>
            <a:ext cx="2588260" cy="1004570"/>
            <a:chOff x="16449" y="2069"/>
            <a:chExt cx="4076" cy="1582"/>
          </a:xfrm>
        </p:grpSpPr>
        <p:sp>
          <p:nvSpPr>
            <p:cNvPr id="16" name="1111"/>
            <p:cNvSpPr txBox="1"/>
            <p:nvPr>
              <p:custDataLst>
                <p:tags r:id="rId13"/>
              </p:custDataLst>
            </p:nvPr>
          </p:nvSpPr>
          <p:spPr>
            <a:xfrm>
              <a:off x="17587" y="2069"/>
              <a:ext cx="2938" cy="744"/>
            </a:xfrm>
            <a:prstGeom prst="rect">
              <a:avLst/>
            </a:prstGeom>
            <a:noFill/>
            <a:ln w="9525">
              <a:noFill/>
            </a:ln>
          </p:spPr>
          <p:txBody>
            <a:bodyPr vert="horz" wrap="square" lIns="36195" rIns="36195" anchor="t">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网络分析</a:t>
              </a:r>
              <a:endParaRPr kumimoji="0" lang="zh-CN" altLang="en-US" sz="24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17" name="弦形 16"/>
            <p:cNvSpPr/>
            <p:nvPr>
              <p:custDataLst>
                <p:tags r:id="rId14"/>
              </p:custDataLst>
            </p:nvPr>
          </p:nvSpPr>
          <p:spPr>
            <a:xfrm>
              <a:off x="16449" y="2131"/>
              <a:ext cx="1018" cy="1520"/>
            </a:xfrm>
            <a:prstGeom prst="chord">
              <a:avLst>
                <a:gd name="adj1" fmla="val 10723192"/>
                <a:gd name="adj2" fmla="val 0"/>
              </a:avLst>
            </a:prstGeom>
            <a:gradFill rotWithShape="0">
              <a:gsLst>
                <a:gs pos="0">
                  <a:srgbClr val="701E5E"/>
                </a:gs>
                <a:gs pos="100000">
                  <a:srgbClr val="AD4591">
                    <a:alpha val="80000"/>
                  </a:srgbClr>
                </a:gs>
              </a:gsLst>
              <a:lin ang="5400000" scaled="0"/>
            </a:gradFill>
            <a:ln>
              <a:solidFill>
                <a:schemeClr val="bg1">
                  <a:alpha val="30000"/>
                </a:schemeClr>
              </a:solidFill>
            </a:ln>
            <a:effectLst>
              <a:innerShdw blurRad="127000" dist="50800" dir="27000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0" rIns="36195" bIns="36195" numCol="1" spcCol="0" rtlCol="0" fromWordArt="0" anchor="t" anchorCtr="0" forceAA="0" compatLnSpc="1">
              <a:noAutofit/>
            </a:bodyPr>
            <a:lstStyle/>
            <a:p>
              <a:pPr marL="0" marR="0" lvl="0" indent="0" algn="ctr" defTabSz="914400" rtl="0" eaLnBrk="1" fontAlgn="auto" latinLnBrk="0" hangingPunct="1">
                <a:lnSpc>
                  <a:spcPts val="228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ea"/>
                </a:rPr>
                <a:t>04</a:t>
              </a:r>
              <a:endParaRPr kumimoji="0" lang="en-US" altLang="zh-CN" sz="24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grpSp>
      <p:sp>
        <p:nvSpPr>
          <p:cNvPr id="11" name="1111"/>
          <p:cNvSpPr txBox="1"/>
          <p:nvPr/>
        </p:nvSpPr>
        <p:spPr>
          <a:xfrm>
            <a:off x="158750" y="2130425"/>
            <a:ext cx="2299335" cy="2832735"/>
          </a:xfrm>
          <a:prstGeom prst="rect">
            <a:avLst/>
          </a:prstGeom>
          <a:noFill/>
          <a:ln w="9525">
            <a:noFill/>
          </a:ln>
        </p:spPr>
        <p:txBody>
          <a:bodyPr vert="horz" wrap="square" lIns="36195" rIns="36195" anchor="t">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PEview</a:t>
            </a:r>
            <a:endPar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查看</a:t>
            </a:r>
            <a:r>
              <a:rPr kumimoji="0" lang="en-US" altLang="zh-CN"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PE</a:t>
            </a: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文件结构</a:t>
            </a:r>
            <a:endPar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节信息、资源</a:t>
            </a:r>
            <a:endParaRPr kumimoji="0" lang="en-US" altLang="zh-CN"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PEiD</a:t>
            </a:r>
            <a:endPar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查看是否加壳</a:t>
            </a:r>
            <a:endParaRPr kumimoji="0" lang="en-US" altLang="zh-CN"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strings</a:t>
            </a:r>
            <a:endPar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查看字符串列表</a:t>
            </a:r>
            <a:endParaRPr kumimoji="0" lang="en-US" altLang="zh-CN"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Dependency Walker</a:t>
            </a: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查看导入函数</a:t>
            </a:r>
            <a:b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br>
            <a:r>
              <a:rPr kumimoji="0" lang="zh-CN" altLang="en-US"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以及依赖关系分析</a:t>
            </a:r>
            <a:r>
              <a:rPr kumimoji="0" lang="en-US" altLang="zh-CN"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 </a:t>
            </a:r>
            <a:endParaRPr kumimoji="0" lang="en-US" altLang="zh-CN" sz="2000" b="0" i="0" u="none" strike="noStrike" kern="1200" cap="none" spc="0" normalizeH="0" baseline="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20" name="1111"/>
          <p:cNvSpPr txBox="1"/>
          <p:nvPr/>
        </p:nvSpPr>
        <p:spPr>
          <a:xfrm>
            <a:off x="6199505" y="2119630"/>
            <a:ext cx="2635885" cy="3188970"/>
          </a:xfrm>
          <a:prstGeom prst="rect">
            <a:avLst/>
          </a:prstGeom>
          <a:noFill/>
          <a:ln w="9525">
            <a:noFill/>
          </a:ln>
        </p:spPr>
        <p:txBody>
          <a:bodyPr vert="horz" wrap="square" lIns="36195" rIns="36195" anchor="t">
            <a:noAutofit/>
          </a:bodyPr>
          <a:p>
            <a:pPr lvl="0" algn="l">
              <a:spcBef>
                <a:spcPts val="0"/>
              </a:spcBef>
              <a:spcAft>
                <a:spcPts val="0"/>
              </a:spcAft>
              <a:buClrTx/>
              <a:buSzTx/>
              <a:buFontTx/>
              <a:defRPr/>
            </a:pPr>
            <a:r>
              <a:rPr lang="en-US" altLang="zh-CN"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Process Explorer</a:t>
            </a:r>
            <a:endParaRPr lang="en-US" altLang="zh-CN"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检查</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进程</a:t>
            </a: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r>
              <a:rPr lang="en-US" altLang="zh-CN"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Process Monitor</a:t>
            </a:r>
            <a:endParaRPr lang="en-US" altLang="zh-CN"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使用过滤器查看</a:t>
            </a:r>
            <a:r>
              <a:rPr lang="en-US" alt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operation</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和路径等</a:t>
            </a: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有关注册表等的</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信息</a:t>
            </a: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24" name="1111"/>
          <p:cNvSpPr txBox="1"/>
          <p:nvPr/>
        </p:nvSpPr>
        <p:spPr>
          <a:xfrm>
            <a:off x="2983865" y="2130425"/>
            <a:ext cx="2635885" cy="3188970"/>
          </a:xfrm>
          <a:prstGeom prst="rect">
            <a:avLst/>
          </a:prstGeom>
          <a:noFill/>
          <a:ln w="9525">
            <a:noFill/>
          </a:ln>
        </p:spPr>
        <p:txBody>
          <a:bodyPr vert="horz" wrap="square" lIns="36195" rIns="36195" anchor="t">
            <a:noAutofit/>
          </a:bodyPr>
          <a:p>
            <a:pPr lvl="0" indent="0" algn="l" fontAlgn="auto">
              <a:lnSpc>
                <a:spcPct val="100000"/>
              </a:lnSpc>
              <a:spcBef>
                <a:spcPts val="0"/>
              </a:spcBef>
              <a:spcAft>
                <a:spcPts val="600"/>
              </a:spcAft>
              <a:buClrTx/>
              <a:buSzTx/>
              <a:buFontTx/>
              <a:defRPr/>
            </a:pPr>
            <a:r>
              <a:rPr lang="en-US" sz="2000" i="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Lab03-03.dll</a:t>
            </a:r>
            <a:endParaRPr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indent="0" algn="l" fontAlgn="auto">
              <a:lnSpc>
                <a:spcPct val="100000"/>
              </a:lnSpc>
              <a:spcBef>
                <a:spcPts val="600"/>
              </a:spcBef>
              <a:spcAft>
                <a:spcPts val="600"/>
              </a:spcAft>
              <a:buClrTx/>
              <a:buSzTx/>
              <a:buFontTx/>
              <a:defRPr/>
            </a:pPr>
            <a:r>
              <a:rPr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使用</a:t>
            </a:r>
            <a:r>
              <a:rPr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rundll32.exe</a:t>
            </a:r>
            <a:r>
              <a:rPr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来安装恶意代码</a:t>
            </a:r>
            <a:r>
              <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a:t>
            </a:r>
            <a:r>
              <a:rPr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导出函数</a:t>
            </a:r>
            <a:r>
              <a:rPr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installA</a:t>
            </a:r>
            <a:r>
              <a:rPr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将自身注册为一个服务</a:t>
            </a:r>
            <a:r>
              <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a:t>
            </a:r>
            <a:endParaRPr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indent="0" algn="l" fontAlgn="auto">
              <a:lnSpc>
                <a:spcPct val="100000"/>
              </a:lnSpc>
              <a:spcBef>
                <a:spcPts val="600"/>
              </a:spcBef>
              <a:spcAft>
                <a:spcPts val="600"/>
              </a:spcAft>
              <a:buClrTx/>
              <a:buSzTx/>
              <a:buFontTx/>
              <a:defRPr/>
            </a:pPr>
            <a:r>
              <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根据</a:t>
            </a:r>
            <a:r>
              <a:rPr lang="en-US" alt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RegShot</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对比</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快照</a:t>
            </a: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indent="0" algn="l" fontAlgn="auto">
              <a:lnSpc>
                <a:spcPct val="100000"/>
              </a:lnSpc>
              <a:spcBef>
                <a:spcPts val="600"/>
              </a:spcBef>
              <a:spcAft>
                <a:spcPts val="600"/>
              </a:spcAft>
              <a:buClrTx/>
              <a:buSzTx/>
              <a:buFontTx/>
              <a:defRPr/>
            </a:pPr>
            <a:r>
              <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恶意代码安装为IPRIP服务后使用Windows中的</a:t>
            </a:r>
            <a:r>
              <a:rPr lang="zh-CN"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net命令</a:t>
            </a:r>
            <a:r>
              <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启动</a:t>
            </a:r>
            <a:endPar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endParaRPr lang="zh-CN"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26" name="1111"/>
          <p:cNvSpPr txBox="1"/>
          <p:nvPr/>
        </p:nvSpPr>
        <p:spPr>
          <a:xfrm>
            <a:off x="9123680" y="2119630"/>
            <a:ext cx="2635885" cy="3188970"/>
          </a:xfrm>
          <a:prstGeom prst="rect">
            <a:avLst/>
          </a:prstGeom>
          <a:noFill/>
          <a:ln w="9525">
            <a:noFill/>
          </a:ln>
        </p:spPr>
        <p:txBody>
          <a:bodyPr vert="horz" wrap="square" lIns="36195" rIns="36195" anchor="t">
            <a:noAutofit/>
          </a:bodyPr>
          <a:p>
            <a:pPr lvl="0" algn="l">
              <a:spcBef>
                <a:spcPts val="0"/>
              </a:spcBef>
              <a:spcAft>
                <a:spcPts val="0"/>
              </a:spcAft>
              <a:buClrTx/>
              <a:buSzTx/>
              <a:buFontTx/>
              <a:defRPr/>
            </a:pP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启动</a:t>
            </a:r>
            <a:r>
              <a:rPr lang="zh-CN" altLang="en-US"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ApateDNS</a:t>
            </a:r>
            <a:endParaRPr lang="zh-CN" altLang="en-US"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endParaRPr lang="zh-CN" altLang="en-US"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使用</a:t>
            </a:r>
            <a:r>
              <a:rPr lang="zh-CN" altLang="en-US"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Netcat</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监听端口</a:t>
            </a: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endParaRPr lang="zh-CN" altLang="en-US"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a:p>
            <a:pPr lvl="0" algn="l">
              <a:spcBef>
                <a:spcPts val="0"/>
              </a:spcBef>
              <a:spcAft>
                <a:spcPts val="0"/>
              </a:spcAft>
              <a:buClrTx/>
              <a:buSzTx/>
              <a:buFontTx/>
              <a:defRPr/>
            </a:pPr>
            <a:r>
              <a:rPr lang="zh-CN" altLang="en-US" sz="2000" b="1"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Wireshark</a:t>
            </a:r>
            <a:r>
              <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rPr>
              <a:t>解析网络协议</a:t>
            </a:r>
            <a:endParaRPr lang="zh-CN" altLang="en-US" sz="2000" noProof="0" dirty="0">
              <a:ln>
                <a:noFill/>
              </a:ln>
              <a:solidFill>
                <a:srgbClr val="701E5E"/>
              </a:solidFill>
              <a:effectLst/>
              <a:uLnTx/>
              <a:uFillTx/>
              <a:latin typeface="华文中宋" panose="02010600040101010101" pitchFamily="2" charset="-122"/>
              <a:ea typeface="华文中宋" panose="02010600040101010101" pitchFamily="2" charset="-122"/>
              <a:sym typeface="微软雅黑" panose="020B0503020204020204" pitchFamily="34" charset="-122"/>
            </a:endParaRPr>
          </a:p>
        </p:txBody>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80000"/>
          </a:srgbClr>
        </a:solidFill>
        <a:effectLst/>
      </p:bgPr>
    </p:bg>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a:latin typeface="微软雅黑" panose="020B0503020204020204" pitchFamily="34" charset="-122"/>
                <a:ea typeface="微软雅黑" panose="020B0503020204020204" pitchFamily="34" charset="-122"/>
              </a:rPr>
              <a:t>PART</a:t>
            </a:r>
            <a:endParaRPr lang="en-US" altLang="zh-CN" sz="4000" b="1">
              <a:latin typeface="微软雅黑" panose="020B0503020204020204" pitchFamily="34" charset="-122"/>
              <a:ea typeface="微软雅黑" panose="020B0503020204020204" pitchFamily="34" charset="-122"/>
            </a:endParaRPr>
          </a:p>
          <a:p>
            <a:pPr algn="ctr" fontAlgn="auto">
              <a:lnSpc>
                <a:spcPts val="4000"/>
              </a:lnSpc>
            </a:pPr>
            <a:r>
              <a:rPr lang="en-US" altLang="zh-CN" sz="4000" b="1">
                <a:latin typeface="微软雅黑" panose="020B0503020204020204" pitchFamily="34" charset="-122"/>
                <a:ea typeface="微软雅黑" panose="020B0503020204020204" pitchFamily="34" charset="-122"/>
              </a:rPr>
              <a:t>2</a:t>
            </a:r>
            <a:endParaRPr lang="en-US" altLang="zh-CN" sz="4000" b="1">
              <a:latin typeface="微软雅黑" panose="020B0503020204020204" pitchFamily="34" charset="-122"/>
              <a:ea typeface="微软雅黑" panose="020B0503020204020204" pitchFamily="34" charset="-122"/>
            </a:endParaRPr>
          </a:p>
        </p:txBody>
      </p:sp>
      <p:sp>
        <p:nvSpPr>
          <p:cNvPr id="9240" name="文本框 47"/>
          <p:cNvSpPr txBox="1"/>
          <p:nvPr/>
        </p:nvSpPr>
        <p:spPr>
          <a:xfrm>
            <a:off x="6429058" y="2884805"/>
            <a:ext cx="5762625" cy="1938020"/>
          </a:xfrm>
          <a:prstGeom prst="rect">
            <a:avLst/>
          </a:prstGeom>
          <a:noFill/>
          <a:ln w="9525">
            <a:noFill/>
          </a:ln>
        </p:spPr>
        <p:txBody>
          <a:bodyPr vert="horz" wrap="square" anchor="t">
            <a:spAutoFit/>
          </a:bodyPr>
          <a:lstStyle/>
          <a:p>
            <a:pPr lvl="0" algn="ctr">
              <a:buClrTx/>
              <a:buSzTx/>
              <a:buFontTx/>
            </a:pP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实验过程中遇到的一些</a:t>
            </a: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问题</a:t>
            </a:r>
            <a:endPar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116070" y="235585"/>
            <a:ext cx="3959225" cy="822325"/>
          </a:xfrm>
          <a:prstGeom prst="roundRect">
            <a:avLst>
              <a:gd name="adj" fmla="val 49999"/>
            </a:avLst>
          </a:prstGeom>
          <a:solidFill>
            <a:srgbClr val="701E5E"/>
          </a:solidFill>
        </p:spPr>
        <p:txBody>
          <a:bodyPr wrap="square" rtlCol="0" anchor="t">
            <a:noAutofit/>
          </a:bodyPr>
          <a:lstStyle/>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apateDNS</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运行</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sp>
        <p:nvSpPr>
          <p:cNvPr id="80" name="1111"/>
          <p:cNvSpPr txBox="1"/>
          <p:nvPr/>
        </p:nvSpPr>
        <p:spPr>
          <a:xfrm>
            <a:off x="5290484" y="4149725"/>
            <a:ext cx="5702249" cy="1753235"/>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rPr>
              <a:t>  </a:t>
            </a:r>
            <a:r>
              <a:rPr lang="zh-CN" altLang="en-US" dirty="0">
                <a:solidFill>
                  <a:srgbClr val="262626"/>
                </a:solidFill>
                <a:latin typeface="微软雅黑 Light" panose="020B0502040204020203" charset="-122"/>
                <a:ea typeface="微软雅黑 Light" panose="020B0502040204020203" charset="-122"/>
              </a:rPr>
              <a:t>     </a:t>
            </a:r>
            <a:r>
              <a:rPr>
                <a:solidFill>
                  <a:srgbClr val="262626"/>
                </a:solidFill>
                <a:latin typeface="华文中宋" panose="02010600040101010101" pitchFamily="2" charset="-122"/>
                <a:ea typeface="华文中宋" panose="02010600040101010101" pitchFamily="2" charset="-122"/>
              </a:rPr>
              <a:t>需要另外下载`.NET framework`，在更高级的windows操作系统中是可以自动查询缺失文件进行加载，而在WindowsXP中需要自主下载安装包，同时还需注意下载版本兼容问题。</a:t>
            </a:r>
            <a:endParaRPr>
              <a:solidFill>
                <a:srgbClr val="262626"/>
              </a:solidFill>
              <a:latin typeface="华文中宋" panose="02010600040101010101" pitchFamily="2" charset="-122"/>
              <a:ea typeface="华文中宋" panose="02010600040101010101" pitchFamily="2" charset="-122"/>
            </a:endParaRPr>
          </a:p>
        </p:txBody>
      </p:sp>
      <p:grpSp>
        <p:nvGrpSpPr>
          <p:cNvPr id="4" name="组合 3"/>
          <p:cNvGrpSpPr/>
          <p:nvPr/>
        </p:nvGrpSpPr>
        <p:grpSpPr>
          <a:xfrm>
            <a:off x="3934460" y="1058094"/>
            <a:ext cx="9792335" cy="5584825"/>
            <a:chOff x="3934460" y="1058094"/>
            <a:chExt cx="9792335" cy="5584825"/>
          </a:xfrm>
        </p:grpSpPr>
        <p:pic>
          <p:nvPicPr>
            <p:cNvPr id="5" name="图片 4"/>
            <p:cNvPicPr>
              <a:picLocks noChangeAspect="1"/>
            </p:cNvPicPr>
            <p:nvPr/>
          </p:nvPicPr>
          <p:blipFill>
            <a:blip r:embed="rId1"/>
            <a:stretch>
              <a:fillRect/>
            </a:stretch>
          </p:blipFill>
          <p:spPr>
            <a:xfrm>
              <a:off x="3934460" y="1058094"/>
              <a:ext cx="2759075" cy="2101850"/>
            </a:xfrm>
            <a:prstGeom prst="rect">
              <a:avLst/>
            </a:prstGeom>
          </p:spPr>
        </p:pic>
        <p:pic>
          <p:nvPicPr>
            <p:cNvPr id="9" name="图片 8"/>
            <p:cNvPicPr>
              <a:picLocks noChangeAspect="1"/>
            </p:cNvPicPr>
            <p:nvPr/>
          </p:nvPicPr>
          <p:blipFill>
            <a:blip r:embed="rId2"/>
            <a:stretch>
              <a:fillRect/>
            </a:stretch>
          </p:blipFill>
          <p:spPr>
            <a:xfrm>
              <a:off x="11152505" y="4682039"/>
              <a:ext cx="2574290" cy="1960880"/>
            </a:xfrm>
            <a:prstGeom prst="rect">
              <a:avLst/>
            </a:prstGeom>
          </p:spPr>
        </p:pic>
        <p:sp>
          <p:nvSpPr>
            <p:cNvPr id="79" name="333333"/>
            <p:cNvSpPr txBox="1"/>
            <p:nvPr/>
          </p:nvSpPr>
          <p:spPr>
            <a:xfrm>
              <a:off x="5687060" y="1286694"/>
              <a:ext cx="5382260" cy="735330"/>
            </a:xfrm>
            <a:prstGeom prst="rect">
              <a:avLst/>
            </a:prstGeom>
            <a:noFill/>
            <a:ln w="9525">
              <a:noFill/>
            </a:ln>
          </p:spPr>
          <p:txBody>
            <a:bodyPr wrap="square" anchor="t">
              <a:noAutofit/>
            </a:bodyPr>
            <a:lstStyle/>
            <a:p>
              <a:pPr algn="l">
                <a:lnSpc>
                  <a:spcPct val="120000"/>
                </a:lnSpc>
              </a:pP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W</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indows</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XP</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中的</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apateDNS</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不能正常运行，会显示应用程序正常初始化失败</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cxnSp>
          <p:nvCxnSpPr>
            <p:cNvPr id="10" name="直接连接符 9"/>
            <p:cNvCxnSpPr/>
            <p:nvPr/>
          </p:nvCxnSpPr>
          <p:spPr>
            <a:xfrm>
              <a:off x="4836160" y="5831840"/>
              <a:ext cx="6695440" cy="0"/>
            </a:xfrm>
            <a:prstGeom prst="line">
              <a:avLst/>
            </a:prstGeom>
            <a:ln w="19050">
              <a:solidFill>
                <a:srgbClr val="B78EAE"/>
              </a:solidFill>
              <a:prstDash val="dash"/>
            </a:ln>
          </p:spPr>
          <p:style>
            <a:lnRef idx="1">
              <a:schemeClr val="accent1"/>
            </a:lnRef>
            <a:fillRef idx="0">
              <a:schemeClr val="accent1"/>
            </a:fillRef>
            <a:effectRef idx="0">
              <a:schemeClr val="accent1"/>
            </a:effectRef>
            <a:fontRef idx="minor">
              <a:schemeClr val="tx1"/>
            </a:fontRef>
          </p:style>
        </p:cxnSp>
      </p:grpSp>
      <p:pic>
        <p:nvPicPr>
          <p:cNvPr id="3" name="图片 2"/>
          <p:cNvPicPr/>
          <p:nvPr>
            <p:custDataLst>
              <p:tags r:id="rId3"/>
            </p:custDataLst>
          </p:nvPr>
        </p:nvPicPr>
        <p:blipFill>
          <a:blip r:embed="rId4"/>
          <a:srcRect l="14092" t="470" r="15010" b="5002"/>
          <a:stretch>
            <a:fillRect/>
          </a:stretch>
        </p:blipFill>
        <p:spPr>
          <a:xfrm>
            <a:off x="176548" y="1198562"/>
            <a:ext cx="4880572" cy="4582478"/>
          </a:xfrm>
          <a:prstGeom prst="star8">
            <a:avLst>
              <a:gd name="adj" fmla="val 38202"/>
            </a:avLst>
          </a:prstGeom>
          <a:noFill/>
          <a:ln w="28575" cap="sq">
            <a:solidFill>
              <a:schemeClr val="bg1"/>
            </a:solidFill>
            <a:miter lim="800000"/>
            <a:headEnd/>
            <a:tailEnd/>
          </a:ln>
        </p:spPr>
      </p:pic>
      <p:pic>
        <p:nvPicPr>
          <p:cNvPr id="6" name="图片 5"/>
          <p:cNvPicPr>
            <a:picLocks noChangeAspect="1"/>
          </p:cNvPicPr>
          <p:nvPr/>
        </p:nvPicPr>
        <p:blipFill>
          <a:blip r:embed="rId5"/>
          <a:stretch>
            <a:fillRect/>
          </a:stretch>
        </p:blipFill>
        <p:spPr>
          <a:xfrm>
            <a:off x="4836160" y="2469515"/>
            <a:ext cx="7195185" cy="1232535"/>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2280920" y="234950"/>
            <a:ext cx="7629525" cy="749300"/>
          </a:xfrm>
          <a:prstGeom prst="roundRect">
            <a:avLst>
              <a:gd name="adj" fmla="val 49999"/>
            </a:avLst>
          </a:prstGeom>
          <a:solidFill>
            <a:srgbClr val="701E5E"/>
          </a:solidFill>
        </p:spPr>
        <p:txBody>
          <a:bodyPr wrap="square" rtlCol="0" anchor="t">
            <a:noAutofit/>
          </a:bodyPr>
          <a:lstStyle/>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Win10</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与</a:t>
            </a: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WindowsXP</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分析</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结果差异</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sp>
        <p:nvSpPr>
          <p:cNvPr id="80" name="1111"/>
          <p:cNvSpPr txBox="1"/>
          <p:nvPr/>
        </p:nvSpPr>
        <p:spPr>
          <a:xfrm>
            <a:off x="5295265" y="1922145"/>
            <a:ext cx="5702300" cy="1506855"/>
          </a:xfrm>
          <a:prstGeom prst="rect">
            <a:avLst/>
          </a:prstGeom>
          <a:noFill/>
          <a:ln w="9525">
            <a:noFill/>
          </a:ln>
        </p:spPr>
        <p:txBody>
          <a:bodyPr wrap="square" anchor="t">
            <a:no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rPr>
              <a:t>  </a:t>
            </a:r>
            <a:r>
              <a:rPr lang="zh-CN" altLang="en-US" dirty="0">
                <a:solidFill>
                  <a:srgbClr val="262626"/>
                </a:solidFill>
                <a:latin typeface="微软雅黑 Light" panose="020B0502040204020203" charset="-122"/>
                <a:ea typeface="微软雅黑 Light" panose="020B0502040204020203" charset="-122"/>
              </a:rPr>
              <a:t>    </a:t>
            </a:r>
            <a:r>
              <a:rPr>
                <a:solidFill>
                  <a:srgbClr val="262626"/>
                </a:solidFill>
              </a:rPr>
              <a:t>在Win10上进行恶意代码分析时，发现其有些分析结果与xp操作系统上不同，包括一些字符串列表输出以及网络感染的特征都会有些不同。</a:t>
            </a:r>
            <a:endParaRPr>
              <a:solidFill>
                <a:srgbClr val="262626"/>
              </a:solidFill>
            </a:endParaRPr>
          </a:p>
          <a:p>
            <a:pPr algn="just">
              <a:lnSpc>
                <a:spcPct val="150000"/>
              </a:lnSpc>
            </a:pPr>
            <a:endParaRPr>
              <a:solidFill>
                <a:srgbClr val="262626"/>
              </a:solidFill>
            </a:endParaRPr>
          </a:p>
          <a:p>
            <a:pPr algn="just">
              <a:lnSpc>
                <a:spcPct val="150000"/>
              </a:lnSpc>
            </a:pPr>
            <a:r>
              <a:rPr>
                <a:solidFill>
                  <a:srgbClr val="262626"/>
                </a:solidFill>
              </a:rPr>
              <a:t> </a:t>
            </a:r>
            <a:r>
              <a:rPr lang="en-US">
                <a:solidFill>
                  <a:srgbClr val="262626"/>
                </a:solidFill>
              </a:rPr>
              <a:t>  </a:t>
            </a:r>
            <a:endParaRPr>
              <a:solidFill>
                <a:srgbClr val="262626"/>
              </a:solidFill>
            </a:endParaRPr>
          </a:p>
        </p:txBody>
      </p:sp>
      <p:grpSp>
        <p:nvGrpSpPr>
          <p:cNvPr id="4" name="组合 3"/>
          <p:cNvGrpSpPr/>
          <p:nvPr/>
        </p:nvGrpSpPr>
        <p:grpSpPr>
          <a:xfrm>
            <a:off x="3934460" y="1058094"/>
            <a:ext cx="9792335" cy="5584825"/>
            <a:chOff x="3934460" y="1058094"/>
            <a:chExt cx="9792335" cy="5584825"/>
          </a:xfrm>
        </p:grpSpPr>
        <p:pic>
          <p:nvPicPr>
            <p:cNvPr id="5" name="图片 4"/>
            <p:cNvPicPr>
              <a:picLocks noChangeAspect="1"/>
            </p:cNvPicPr>
            <p:nvPr/>
          </p:nvPicPr>
          <p:blipFill>
            <a:blip r:embed="rId1"/>
            <a:stretch>
              <a:fillRect/>
            </a:stretch>
          </p:blipFill>
          <p:spPr>
            <a:xfrm>
              <a:off x="3934460" y="1058094"/>
              <a:ext cx="2759075" cy="2101850"/>
            </a:xfrm>
            <a:prstGeom prst="rect">
              <a:avLst/>
            </a:prstGeom>
          </p:spPr>
        </p:pic>
        <p:pic>
          <p:nvPicPr>
            <p:cNvPr id="9" name="图片 8"/>
            <p:cNvPicPr>
              <a:picLocks noChangeAspect="1"/>
            </p:cNvPicPr>
            <p:nvPr/>
          </p:nvPicPr>
          <p:blipFill>
            <a:blip r:embed="rId2"/>
            <a:stretch>
              <a:fillRect/>
            </a:stretch>
          </p:blipFill>
          <p:spPr>
            <a:xfrm>
              <a:off x="11152505" y="4682039"/>
              <a:ext cx="2574290" cy="1960880"/>
            </a:xfrm>
            <a:prstGeom prst="rect">
              <a:avLst/>
            </a:prstGeom>
          </p:spPr>
        </p:pic>
        <p:sp>
          <p:nvSpPr>
            <p:cNvPr id="79" name="333333"/>
            <p:cNvSpPr txBox="1"/>
            <p:nvPr/>
          </p:nvSpPr>
          <p:spPr>
            <a:xfrm>
              <a:off x="5687060" y="1444809"/>
              <a:ext cx="5382260" cy="735330"/>
            </a:xfrm>
            <a:prstGeom prst="rect">
              <a:avLst/>
            </a:prstGeom>
            <a:noFill/>
            <a:ln w="9525">
              <a:noFill/>
            </a:ln>
          </p:spPr>
          <p:txBody>
            <a:bodyPr wrap="square" anchor="t">
              <a:noAutofit/>
            </a:bodyPr>
            <a:lstStyle/>
            <a:p>
              <a:pPr algn="l">
                <a:lnSpc>
                  <a:spcPct val="120000"/>
                </a:lnSpc>
              </a:pP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W</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indows</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XP</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与</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Windows10 </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分析恶意代码时的</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差异</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cxnSp>
          <p:nvCxnSpPr>
            <p:cNvPr id="10" name="直接连接符 9"/>
            <p:cNvCxnSpPr/>
            <p:nvPr/>
          </p:nvCxnSpPr>
          <p:spPr>
            <a:xfrm>
              <a:off x="4836160" y="5831840"/>
              <a:ext cx="6695440" cy="0"/>
            </a:xfrm>
            <a:prstGeom prst="line">
              <a:avLst/>
            </a:prstGeom>
            <a:ln w="19050">
              <a:solidFill>
                <a:srgbClr val="B78EAE"/>
              </a:solidFill>
              <a:prstDash val="dash"/>
            </a:ln>
          </p:spPr>
          <p:style>
            <a:lnRef idx="1">
              <a:schemeClr val="accent1"/>
            </a:lnRef>
            <a:fillRef idx="0">
              <a:schemeClr val="accent1"/>
            </a:fillRef>
            <a:effectRef idx="0">
              <a:schemeClr val="accent1"/>
            </a:effectRef>
            <a:fontRef idx="minor">
              <a:schemeClr val="tx1"/>
            </a:fontRef>
          </p:style>
        </p:cxnSp>
      </p:grpSp>
      <p:pic>
        <p:nvPicPr>
          <p:cNvPr id="3" name="图片 2"/>
          <p:cNvPicPr/>
          <p:nvPr>
            <p:custDataLst>
              <p:tags r:id="rId3"/>
            </p:custDataLst>
          </p:nvPr>
        </p:nvPicPr>
        <p:blipFill>
          <a:blip r:embed="rId4"/>
          <a:srcRect l="14092" t="470" r="15010" b="5002"/>
          <a:stretch>
            <a:fillRect/>
          </a:stretch>
        </p:blipFill>
        <p:spPr>
          <a:xfrm>
            <a:off x="8612505" y="3301365"/>
            <a:ext cx="3061335" cy="2941955"/>
          </a:xfrm>
          <a:prstGeom prst="star8">
            <a:avLst>
              <a:gd name="adj" fmla="val 38202"/>
            </a:avLst>
          </a:prstGeom>
          <a:noFill/>
          <a:ln w="28575" cap="sq">
            <a:solidFill>
              <a:schemeClr val="bg1"/>
            </a:solidFill>
            <a:miter lim="800000"/>
            <a:headEnd/>
            <a:tailEnd/>
          </a:ln>
        </p:spPr>
      </p:pic>
      <p:pic>
        <p:nvPicPr>
          <p:cNvPr id="2" name="图片 1"/>
          <p:cNvPicPr>
            <a:picLocks noChangeAspect="1"/>
          </p:cNvPicPr>
          <p:nvPr/>
        </p:nvPicPr>
        <p:blipFill>
          <a:blip r:embed="rId5"/>
          <a:stretch>
            <a:fillRect/>
          </a:stretch>
        </p:blipFill>
        <p:spPr>
          <a:xfrm>
            <a:off x="364490" y="2263775"/>
            <a:ext cx="5255260" cy="3568065"/>
          </a:xfrm>
          <a:prstGeom prst="rect">
            <a:avLst/>
          </a:prstGeom>
        </p:spPr>
      </p:pic>
      <p:pic>
        <p:nvPicPr>
          <p:cNvPr id="7" name="图片 6"/>
          <p:cNvPicPr>
            <a:picLocks noChangeAspect="1"/>
          </p:cNvPicPr>
          <p:nvPr/>
        </p:nvPicPr>
        <p:blipFill>
          <a:blip r:embed="rId6"/>
          <a:stretch>
            <a:fillRect/>
          </a:stretch>
        </p:blipFill>
        <p:spPr>
          <a:xfrm>
            <a:off x="5356225" y="3383915"/>
            <a:ext cx="6725285" cy="2447925"/>
          </a:xfrm>
          <a:prstGeom prst="rect">
            <a:avLst/>
          </a:prstGeom>
        </p:spPr>
      </p:pic>
      <p:pic>
        <p:nvPicPr>
          <p:cNvPr id="8" name="图片 7"/>
          <p:cNvPicPr>
            <a:picLocks noChangeAspect="1"/>
          </p:cNvPicPr>
          <p:nvPr/>
        </p:nvPicPr>
        <p:blipFill>
          <a:blip r:embed="rId7"/>
          <a:stretch>
            <a:fillRect/>
          </a:stretch>
        </p:blipFill>
        <p:spPr>
          <a:xfrm>
            <a:off x="248920" y="3233420"/>
            <a:ext cx="5867400" cy="2524125"/>
          </a:xfrm>
          <a:prstGeom prst="rect">
            <a:avLst/>
          </a:prstGeom>
        </p:spPr>
      </p:pic>
      <p:pic>
        <p:nvPicPr>
          <p:cNvPr id="11" name="图片 10"/>
          <p:cNvPicPr>
            <a:picLocks noChangeAspect="1"/>
          </p:cNvPicPr>
          <p:nvPr/>
        </p:nvPicPr>
        <p:blipFill>
          <a:blip r:embed="rId8"/>
          <a:stretch>
            <a:fillRect/>
          </a:stretch>
        </p:blipFill>
        <p:spPr>
          <a:xfrm>
            <a:off x="4939030" y="5189855"/>
            <a:ext cx="7142480" cy="128397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46480" y="1143000"/>
            <a:ext cx="10080000" cy="1544753"/>
          </a:xfrm>
          <a:prstGeom prst="rect">
            <a:avLst/>
          </a:prstGeom>
          <a:solidFill>
            <a:srgbClr val="EFE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046480" y="4905057"/>
            <a:ext cx="10080000" cy="1619885"/>
          </a:xfrm>
          <a:prstGeom prst="rect">
            <a:avLst/>
          </a:prstGeom>
          <a:solidFill>
            <a:srgbClr val="EFE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46480" y="3016365"/>
            <a:ext cx="10080000" cy="1619885"/>
          </a:xfrm>
          <a:prstGeom prst="rect">
            <a:avLst/>
          </a:prstGeom>
          <a:solidFill>
            <a:srgbClr val="EFE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1111"/>
          <p:cNvSpPr txBox="1"/>
          <p:nvPr/>
        </p:nvSpPr>
        <p:spPr>
          <a:xfrm>
            <a:off x="1205368" y="1484050"/>
            <a:ext cx="7990067" cy="810895"/>
          </a:xfrm>
          <a:prstGeom prst="rect">
            <a:avLst/>
          </a:prstGeom>
          <a:noFill/>
          <a:ln w="9525">
            <a:noFill/>
          </a:ln>
        </p:spPr>
        <p:txBody>
          <a:bodyPr wrap="square" tIns="36195" bIns="36195" anchor="t">
            <a:spAutoFit/>
          </a:bodyPr>
          <a:lstStyle/>
          <a:p>
            <a:pPr algn="just">
              <a:lnSpc>
                <a:spcPct val="15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这主要是由于两个操作系统在架构设计、安全机制、更新策略以及用户交互方式等多个方面存在显著区别。</a:t>
            </a:r>
            <a:endPar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24" name="1111"/>
          <p:cNvSpPr txBox="1"/>
          <p:nvPr/>
        </p:nvSpPr>
        <p:spPr>
          <a:xfrm>
            <a:off x="1205368" y="3405614"/>
            <a:ext cx="8122137" cy="810895"/>
          </a:xfrm>
          <a:prstGeom prst="rect">
            <a:avLst/>
          </a:prstGeom>
          <a:noFill/>
          <a:ln w="9525">
            <a:noFill/>
          </a:ln>
        </p:spPr>
        <p:txBody>
          <a:bodyPr wrap="square" tIns="36195" bIns="36195" anchor="t">
            <a:spAutoFit/>
          </a:bodyPr>
          <a:lstStyle/>
          <a:p>
            <a:pPr algn="just">
              <a:lnSpc>
                <a:spcPct val="15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Win10采用了更为现代化和安全的架构设计，包括增强的内核保护、更严格的权限管理和更完善的内存管理机制，这些改进使得Win10在抵御恶意代码攻击方面表现出更强的能力。</a:t>
            </a:r>
            <a:endPar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25" name="1111"/>
          <p:cNvSpPr txBox="1"/>
          <p:nvPr/>
        </p:nvSpPr>
        <p:spPr>
          <a:xfrm>
            <a:off x="1126490" y="5124882"/>
            <a:ext cx="8286750" cy="1179830"/>
          </a:xfrm>
          <a:prstGeom prst="rect">
            <a:avLst/>
          </a:prstGeom>
          <a:noFill/>
          <a:ln w="9525">
            <a:noFill/>
          </a:ln>
        </p:spPr>
        <p:txBody>
          <a:bodyPr wrap="square" tIns="36195" bIns="36195" anchor="t">
            <a:spAutoFit/>
          </a:bodyPr>
          <a:lstStyle/>
          <a:p>
            <a:pPr algn="just">
              <a:lnSpc>
                <a:spcPct val="15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初步接触恶意代码分析之后在进行恶意代码分析时还是使用WindowsXP操作系统，可以观察到完整稳定的恶意代码执行过程和执行目的。</a:t>
            </a:r>
            <a:endPar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a:p>
            <a:pPr algn="just">
              <a:lnSpc>
                <a:spcPct val="150000"/>
              </a:lnSpc>
            </a:pPr>
            <a:endPar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nvGrpSpPr>
          <p:cNvPr id="30" name="组合 29"/>
          <p:cNvGrpSpPr/>
          <p:nvPr/>
        </p:nvGrpSpPr>
        <p:grpSpPr>
          <a:xfrm>
            <a:off x="9361170" y="1085215"/>
            <a:ext cx="1731010" cy="1731010"/>
            <a:chOff x="1566" y="1709"/>
            <a:chExt cx="2726" cy="2726"/>
          </a:xfrm>
        </p:grpSpPr>
        <p:sp>
          <p:nvSpPr>
            <p:cNvPr id="31" name="八角星 30"/>
            <p:cNvSpPr/>
            <p:nvPr/>
          </p:nvSpPr>
          <p:spPr>
            <a:xfrm>
              <a:off x="1648" y="178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八角星 31"/>
            <p:cNvSpPr/>
            <p:nvPr/>
          </p:nvSpPr>
          <p:spPr>
            <a:xfrm>
              <a:off x="1566" y="1709"/>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descr="303b32303139323730333bc7a6b1c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15" y="2480"/>
              <a:ext cx="1228" cy="1228"/>
            </a:xfrm>
            <a:prstGeom prst="rect">
              <a:avLst/>
            </a:prstGeom>
          </p:spPr>
        </p:pic>
      </p:grpSp>
      <p:grpSp>
        <p:nvGrpSpPr>
          <p:cNvPr id="34" name="组合 33"/>
          <p:cNvGrpSpPr/>
          <p:nvPr/>
        </p:nvGrpSpPr>
        <p:grpSpPr>
          <a:xfrm>
            <a:off x="9361170" y="2956560"/>
            <a:ext cx="1731010" cy="1731010"/>
            <a:chOff x="1566" y="4656"/>
            <a:chExt cx="2726" cy="2726"/>
          </a:xfrm>
        </p:grpSpPr>
        <p:sp>
          <p:nvSpPr>
            <p:cNvPr id="35" name="八角星 34"/>
            <p:cNvSpPr/>
            <p:nvPr/>
          </p:nvSpPr>
          <p:spPr>
            <a:xfrm>
              <a:off x="1648" y="473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八角星 35"/>
            <p:cNvSpPr/>
            <p:nvPr/>
          </p:nvSpPr>
          <p:spPr>
            <a:xfrm>
              <a:off x="1566" y="4656"/>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descr="303b32303039333137363bc1b4bdd3"/>
            <p:cNvPicPr>
              <a:picLocks noChangeAspect="1"/>
            </p:cNvPicPr>
            <p:nvPr/>
          </p:nvPicPr>
          <p:blipFill>
            <a:blip r:embed="rId3"/>
            <a:stretch>
              <a:fillRect/>
            </a:stretch>
          </p:blipFill>
          <p:spPr>
            <a:xfrm>
              <a:off x="2295" y="5410"/>
              <a:ext cx="1227" cy="1227"/>
            </a:xfrm>
            <a:prstGeom prst="rect">
              <a:avLst/>
            </a:prstGeom>
          </p:spPr>
        </p:pic>
      </p:grpSp>
      <p:grpSp>
        <p:nvGrpSpPr>
          <p:cNvPr id="38" name="组合 37"/>
          <p:cNvGrpSpPr/>
          <p:nvPr/>
        </p:nvGrpSpPr>
        <p:grpSpPr>
          <a:xfrm>
            <a:off x="9361170" y="4835525"/>
            <a:ext cx="1731010" cy="1731010"/>
            <a:chOff x="1566" y="7615"/>
            <a:chExt cx="2726" cy="2726"/>
          </a:xfrm>
        </p:grpSpPr>
        <p:sp>
          <p:nvSpPr>
            <p:cNvPr id="39" name="八角星 38"/>
            <p:cNvSpPr/>
            <p:nvPr/>
          </p:nvSpPr>
          <p:spPr>
            <a:xfrm>
              <a:off x="1648" y="768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nvSpPr>
          <p:spPr>
            <a:xfrm>
              <a:off x="1566" y="7615"/>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303b32303139323730333bc7a6b1c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94" y="8343"/>
              <a:ext cx="1228" cy="1228"/>
            </a:xfrm>
            <a:prstGeom prst="rect">
              <a:avLst/>
            </a:prstGeom>
          </p:spPr>
        </p:pic>
      </p:grpSp>
      <p:sp>
        <p:nvSpPr>
          <p:cNvPr id="5" name="文本框 4"/>
          <p:cNvSpPr txBox="1"/>
          <p:nvPr/>
        </p:nvSpPr>
        <p:spPr>
          <a:xfrm>
            <a:off x="2280920" y="234950"/>
            <a:ext cx="7629525" cy="749300"/>
          </a:xfrm>
          <a:prstGeom prst="roundRect">
            <a:avLst>
              <a:gd name="adj" fmla="val 49999"/>
            </a:avLst>
          </a:prstGeom>
          <a:solidFill>
            <a:srgbClr val="701E5E"/>
          </a:solidFill>
        </p:spPr>
        <p:txBody>
          <a:bodyPr wrap="square" rtlCol="0" anchor="t">
            <a:noAutofit/>
          </a:bodyPr>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Win10</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与</a:t>
            </a: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WindowsXP</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分析</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结果差异</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3323590" y="235585"/>
            <a:ext cx="5544820" cy="822325"/>
          </a:xfrm>
          <a:prstGeom prst="roundRect">
            <a:avLst>
              <a:gd name="adj" fmla="val 49999"/>
            </a:avLst>
          </a:prstGeom>
          <a:solidFill>
            <a:srgbClr val="701E5E"/>
          </a:solidFill>
        </p:spPr>
        <p:txBody>
          <a:bodyPr wrap="square" rtlCol="0" anchor="t">
            <a:noAutofit/>
          </a:bodyPr>
          <a:lstStyle/>
          <a:p>
            <a:pPr lvl="0" algn="ctr">
              <a:buClrTx/>
              <a:buSzTx/>
              <a:buFontTx/>
            </a:pPr>
            <a:r>
              <a:rPr sz="2400" b="1" spc="300" dirty="0">
                <a:solidFill>
                  <a:schemeClr val="bg1"/>
                </a:solidFill>
                <a:uFillTx/>
                <a:latin typeface="微软雅黑" panose="020B0503020204020204" pitchFamily="34" charset="-122"/>
                <a:ea typeface="微软雅黑" panose="020B0503020204020204" pitchFamily="34" charset="-122"/>
                <a:sym typeface="+mn-ea"/>
              </a:rPr>
              <a:t>WinVMX32</a:t>
            </a:r>
            <a:r>
              <a:rPr lang="zh-CN" sz="2400" b="1" spc="300" dirty="0">
                <a:solidFill>
                  <a:schemeClr val="bg1"/>
                </a:solidFill>
                <a:uFillTx/>
                <a:latin typeface="微软雅黑" panose="020B0503020204020204" pitchFamily="34" charset="-122"/>
                <a:ea typeface="微软雅黑" panose="020B0503020204020204" pitchFamily="34" charset="-122"/>
                <a:sym typeface="+mn-ea"/>
              </a:rPr>
              <a:t>：</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一个</a:t>
            </a:r>
            <a:r>
              <a:rPr sz="2400" b="1" spc="300" dirty="0">
                <a:solidFill>
                  <a:schemeClr val="bg1"/>
                </a:solidFill>
                <a:uFillTx/>
                <a:latin typeface="微软雅黑" panose="020B0503020204020204" pitchFamily="34" charset="-122"/>
                <a:ea typeface="微软雅黑" panose="020B0503020204020204" pitchFamily="34" charset="-122"/>
                <a:sym typeface="+mn-ea"/>
              </a:rPr>
              <a:t>互斥量</a:t>
            </a:r>
            <a:endParaRPr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3934460" y="1058094"/>
            <a:ext cx="9792335" cy="5584825"/>
            <a:chOff x="3934460" y="1058094"/>
            <a:chExt cx="9792335" cy="5584825"/>
          </a:xfrm>
        </p:grpSpPr>
        <p:pic>
          <p:nvPicPr>
            <p:cNvPr id="5" name="图片 4"/>
            <p:cNvPicPr>
              <a:picLocks noChangeAspect="1"/>
            </p:cNvPicPr>
            <p:nvPr/>
          </p:nvPicPr>
          <p:blipFill>
            <a:blip r:embed="rId1"/>
            <a:stretch>
              <a:fillRect/>
            </a:stretch>
          </p:blipFill>
          <p:spPr>
            <a:xfrm>
              <a:off x="3934460" y="1058094"/>
              <a:ext cx="2759075" cy="2101850"/>
            </a:xfrm>
            <a:prstGeom prst="rect">
              <a:avLst/>
            </a:prstGeom>
          </p:spPr>
        </p:pic>
        <p:pic>
          <p:nvPicPr>
            <p:cNvPr id="9" name="图片 8"/>
            <p:cNvPicPr>
              <a:picLocks noChangeAspect="1"/>
            </p:cNvPicPr>
            <p:nvPr/>
          </p:nvPicPr>
          <p:blipFill>
            <a:blip r:embed="rId2"/>
            <a:stretch>
              <a:fillRect/>
            </a:stretch>
          </p:blipFill>
          <p:spPr>
            <a:xfrm>
              <a:off x="11152505" y="4682039"/>
              <a:ext cx="2574290" cy="1960880"/>
            </a:xfrm>
            <a:prstGeom prst="rect">
              <a:avLst/>
            </a:prstGeom>
          </p:spPr>
        </p:pic>
        <p:sp>
          <p:nvSpPr>
            <p:cNvPr id="79" name="333333"/>
            <p:cNvSpPr txBox="1"/>
            <p:nvPr/>
          </p:nvSpPr>
          <p:spPr>
            <a:xfrm>
              <a:off x="5687060" y="1135564"/>
              <a:ext cx="5382260" cy="735330"/>
            </a:xfrm>
            <a:prstGeom prst="rect">
              <a:avLst/>
            </a:prstGeom>
            <a:noFill/>
            <a:ln w="9525">
              <a:noFill/>
            </a:ln>
          </p:spPr>
          <p:txBody>
            <a:bodyPr wrap="square" anchor="t">
              <a:noAutofit/>
            </a:bodyPr>
            <a:lstStyle/>
            <a:p>
              <a:pPr algn="l">
                <a:lnSpc>
                  <a:spcPct val="120000"/>
                </a:lnSpc>
              </a:pP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Lab03-01.</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exe</a:t>
              </a:r>
              <a:endParaRPr lang="en-US" altLang="zh-CN" b="1" dirty="0">
                <a:solidFill>
                  <a:schemeClr val="tx1">
                    <a:lumMod val="75000"/>
                    <a:lumOff val="25000"/>
                  </a:schemeClr>
                </a:solidFill>
                <a:latin typeface="华文中宋" panose="02010600040101010101" pitchFamily="2" charset="-122"/>
                <a:ea typeface="华文中宋" panose="02010600040101010101" pitchFamily="2" charset="-122"/>
              </a:endParaRPr>
            </a:p>
            <a:p>
              <a:pPr algn="l">
                <a:lnSpc>
                  <a:spcPct val="120000"/>
                </a:lnSpc>
              </a:pP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互斥量（Mutex）是一种同步机制，用于防止多个线程或进程同时访问共享资源。恶意软件创建互斥量通常是为了确保只有一个实例在运行，避免重复执行或资源冲突。`WinVMX32`可能是这个恶意软件用来标识自己或确保唯一性的名称。</a:t>
              </a:r>
              <a:endParaRPr lang="en-US" altLang="zh-CN" b="1" dirty="0">
                <a:solidFill>
                  <a:schemeClr val="tx1">
                    <a:lumMod val="75000"/>
                    <a:lumOff val="25000"/>
                  </a:schemeClr>
                </a:solidFill>
                <a:latin typeface="华文中宋" panose="02010600040101010101" pitchFamily="2" charset="-122"/>
                <a:ea typeface="华文中宋" panose="02010600040101010101" pitchFamily="2" charset="-122"/>
              </a:endParaRPr>
            </a:p>
          </p:txBody>
        </p:sp>
      </p:grpSp>
      <p:pic>
        <p:nvPicPr>
          <p:cNvPr id="3" name="图片 2"/>
          <p:cNvPicPr/>
          <p:nvPr>
            <p:custDataLst>
              <p:tags r:id="rId3"/>
            </p:custDataLst>
          </p:nvPr>
        </p:nvPicPr>
        <p:blipFill>
          <a:blip r:embed="rId4"/>
          <a:srcRect l="14092" t="470" r="15010" b="5002"/>
          <a:stretch>
            <a:fillRect/>
          </a:stretch>
        </p:blipFill>
        <p:spPr>
          <a:xfrm>
            <a:off x="176548" y="1198562"/>
            <a:ext cx="4880572" cy="4582478"/>
          </a:xfrm>
          <a:prstGeom prst="star8">
            <a:avLst>
              <a:gd name="adj" fmla="val 38202"/>
            </a:avLst>
          </a:prstGeom>
          <a:noFill/>
          <a:ln w="28575" cap="sq">
            <a:solidFill>
              <a:schemeClr val="bg1"/>
            </a:solidFill>
            <a:miter lim="800000"/>
            <a:headEnd/>
            <a:tailEnd/>
          </a:ln>
        </p:spPr>
      </p:pic>
      <p:pic>
        <p:nvPicPr>
          <p:cNvPr id="2" name="图片 1"/>
          <p:cNvPicPr>
            <a:picLocks noChangeAspect="1"/>
          </p:cNvPicPr>
          <p:nvPr/>
        </p:nvPicPr>
        <p:blipFill>
          <a:blip r:embed="rId5"/>
          <a:stretch>
            <a:fillRect/>
          </a:stretch>
        </p:blipFill>
        <p:spPr>
          <a:xfrm>
            <a:off x="4804410" y="3159760"/>
            <a:ext cx="6571615" cy="354838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384675" y="391795"/>
            <a:ext cx="3192145" cy="694690"/>
          </a:xfrm>
          <a:prstGeom prst="roundRect">
            <a:avLst>
              <a:gd name="adj" fmla="val 49999"/>
            </a:avLst>
          </a:prstGeom>
          <a:solidFill>
            <a:srgbClr val="701E5E"/>
          </a:solidFill>
        </p:spPr>
        <p:txBody>
          <a:bodyPr wrap="square" rtlCol="0" anchor="t">
            <a:no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Netcat监听端口</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75" name="组合 74"/>
          <p:cNvGrpSpPr/>
          <p:nvPr>
            <p:custDataLst>
              <p:tags r:id="rId1"/>
            </p:custDataLst>
          </p:nvPr>
        </p:nvGrpSpPr>
        <p:grpSpPr>
          <a:xfrm>
            <a:off x="543560" y="1385966"/>
            <a:ext cx="5454015" cy="1724200"/>
            <a:chOff x="1478" y="3883"/>
            <a:chExt cx="8589" cy="2715"/>
          </a:xfrm>
        </p:grpSpPr>
        <p:sp>
          <p:nvSpPr>
            <p:cNvPr id="76" name="333333"/>
            <p:cNvSpPr txBox="1"/>
            <p:nvPr>
              <p:custDataLst>
                <p:tags r:id="rId2"/>
              </p:custDataLst>
            </p:nvPr>
          </p:nvSpPr>
          <p:spPr>
            <a:xfrm>
              <a:off x="1478" y="3883"/>
              <a:ext cx="2169"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端口</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rPr>
                <a:t>80</a:t>
              </a:r>
              <a:endParaRPr lang="en-US" altLang="zh-CN"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77" name="1111"/>
            <p:cNvSpPr txBox="1"/>
            <p:nvPr>
              <p:custDataLst>
                <p:tags r:id="rId3"/>
              </p:custDataLst>
            </p:nvPr>
          </p:nvSpPr>
          <p:spPr>
            <a:xfrm>
              <a:off x="1478" y="4518"/>
              <a:ext cx="8589" cy="2080"/>
            </a:xfrm>
            <a:prstGeom prst="rect">
              <a:avLst/>
            </a:prstGeom>
            <a:noFill/>
            <a:ln w="9525">
              <a:noFill/>
            </a:ln>
          </p:spPr>
          <p:txBody>
            <a:bodyPr wrap="square" anchor="t">
              <a:noAutofit/>
            </a:bodyPr>
            <a:lstStyle/>
            <a:p>
              <a:pPr algn="just">
                <a:lnSpc>
                  <a:spcPct val="150000"/>
                </a:lnSpc>
              </a:pPr>
              <a:r>
                <a:rPr lang="zh-CN" altLang="en-US" sz="1600" dirty="0">
                  <a:solidFill>
                    <a:srgbClr val="262626"/>
                  </a:solidFill>
                </a:rPr>
                <a:t>HTTP（HyperText Transport Protocol，超文本传输协议）的默认端口。HTTP是一种用于在Web浏览器和Web服务器之间传输数据的协议，主要用于WWW（World Wide Web，万维网）传输信息。通过80端口，浏览器可以发送HTTP请求到服务器，服务器接收到请求后返回相应的网页内容。</a:t>
              </a:r>
              <a:endParaRPr lang="zh-CN" altLang="en-US" sz="1600" dirty="0">
                <a:solidFill>
                  <a:srgbClr val="262626"/>
                </a:solidFill>
              </a:endParaRPr>
            </a:p>
          </p:txBody>
        </p:sp>
      </p:grpSp>
      <p:grpSp>
        <p:nvGrpSpPr>
          <p:cNvPr id="78" name="组合 77"/>
          <p:cNvGrpSpPr/>
          <p:nvPr>
            <p:custDataLst>
              <p:tags r:id="rId4"/>
            </p:custDataLst>
          </p:nvPr>
        </p:nvGrpSpPr>
        <p:grpSpPr>
          <a:xfrm>
            <a:off x="6631305" y="1385966"/>
            <a:ext cx="5022850" cy="2710456"/>
            <a:chOff x="1478" y="3883"/>
            <a:chExt cx="7910" cy="4268"/>
          </a:xfrm>
        </p:grpSpPr>
        <p:sp>
          <p:nvSpPr>
            <p:cNvPr id="79" name="333333"/>
            <p:cNvSpPr txBox="1"/>
            <p:nvPr>
              <p:custDataLst>
                <p:tags r:id="rId5"/>
              </p:custDataLst>
            </p:nvPr>
          </p:nvSpPr>
          <p:spPr>
            <a:xfrm>
              <a:off x="1478" y="3883"/>
              <a:ext cx="1811"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sym typeface="+mn-ea"/>
                </a:rPr>
                <a:t>端口</a:t>
              </a:r>
              <a:r>
                <a:rPr lang="en-US" altLang="zh-CN" b="1" dirty="0">
                  <a:solidFill>
                    <a:schemeClr val="tx1">
                      <a:lumMod val="75000"/>
                      <a:lumOff val="25000"/>
                    </a:schemeClr>
                  </a:solidFill>
                  <a:latin typeface="华文中宋" panose="02010600040101010101" pitchFamily="2" charset="-122"/>
                  <a:ea typeface="华文中宋" panose="02010600040101010101" pitchFamily="2" charset="-122"/>
                  <a:sym typeface="+mn-ea"/>
                </a:rPr>
                <a:t>443</a:t>
              </a:r>
              <a:endParaRPr lang="en-US" altLang="zh-CN" b="1" dirty="0">
                <a:solidFill>
                  <a:schemeClr val="tx1">
                    <a:lumMod val="75000"/>
                    <a:lumOff val="25000"/>
                  </a:schemeClr>
                </a:solidFill>
                <a:latin typeface="华文中宋" panose="02010600040101010101" pitchFamily="2" charset="-122"/>
                <a:ea typeface="华文中宋" panose="02010600040101010101" pitchFamily="2" charset="-122"/>
                <a:sym typeface="+mn-ea"/>
              </a:endParaRPr>
            </a:p>
          </p:txBody>
        </p:sp>
        <p:sp>
          <p:nvSpPr>
            <p:cNvPr id="80" name="1111"/>
            <p:cNvSpPr txBox="1"/>
            <p:nvPr>
              <p:custDataLst>
                <p:tags r:id="rId6"/>
              </p:custDataLst>
            </p:nvPr>
          </p:nvSpPr>
          <p:spPr>
            <a:xfrm>
              <a:off x="1478" y="4518"/>
              <a:ext cx="7910" cy="3633"/>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rPr>
                <a:t>HTTPS（HTTP Secure，安全超文本传输协议）的默认端口。HTTPS是HTTP的安全版本，通过SSL/TLS（Secure Sockets Layer/Transport Layer Security，安全套接字层/传输层安全协议）对HTTP数据进行加密和认证，确保数据在传输过程中的安全性。因此，端口443上的通信是加密的。</a:t>
              </a:r>
              <a:endParaRPr lang="zh-CN" altLang="en-US" sz="1600" dirty="0">
                <a:solidFill>
                  <a:srgbClr val="262626"/>
                </a:solidFill>
              </a:endParaRPr>
            </a:p>
          </p:txBody>
        </p:sp>
      </p:grpSp>
      <p:sp>
        <p:nvSpPr>
          <p:cNvPr id="83" name="1111"/>
          <p:cNvSpPr txBox="1"/>
          <p:nvPr>
            <p:custDataLst>
              <p:tags r:id="rId7"/>
            </p:custDataLst>
          </p:nvPr>
        </p:nvSpPr>
        <p:spPr>
          <a:xfrm>
            <a:off x="1402715" y="5168900"/>
            <a:ext cx="9155430" cy="1368425"/>
          </a:xfrm>
          <a:prstGeom prst="rect">
            <a:avLst/>
          </a:prstGeom>
          <a:noFill/>
          <a:ln w="9525">
            <a:noFill/>
          </a:ln>
        </p:spPr>
        <p:txBody>
          <a:bodyPr wrap="square" anchor="t">
            <a:noAutofit/>
          </a:bodyPr>
          <a:lstStyle/>
          <a:p>
            <a:pPr indent="0" algn="just">
              <a:lnSpc>
                <a:spcPct val="150000"/>
              </a:lnSpc>
              <a:buFont typeface="Arial" panose="020B0604020202020204" pitchFamily="34" charset="0"/>
              <a:buNone/>
            </a:pPr>
            <a:r>
              <a:rPr lang="zh-CN" altLang="en-US" sz="1600" b="1" dirty="0">
                <a:solidFill>
                  <a:srgbClr val="262626"/>
                </a:solidFill>
                <a:latin typeface="华文中宋" panose="02010600040101010101" pitchFamily="2" charset="-122"/>
                <a:ea typeface="华文中宋" panose="02010600040101010101" pitchFamily="2" charset="-122"/>
              </a:rPr>
              <a:t>监听端口的选择：</a:t>
            </a:r>
            <a:endParaRPr lang="zh-CN" altLang="en-US" sz="1600" b="1" dirty="0">
              <a:solidFill>
                <a:srgbClr val="262626"/>
              </a:solidFill>
              <a:latin typeface="华文中宋" panose="02010600040101010101" pitchFamily="2" charset="-122"/>
              <a:ea typeface="华文中宋" panose="02010600040101010101" pitchFamily="2" charset="-122"/>
            </a:endParaRPr>
          </a:p>
          <a:p>
            <a:pPr marL="285750" indent="-285750" algn="just">
              <a:lnSpc>
                <a:spcPct val="150000"/>
              </a:lnSpc>
              <a:buFont typeface="Arial" panose="020B0604020202020204" pitchFamily="34" charset="0"/>
              <a:buChar char="•"/>
            </a:pPr>
            <a:r>
              <a:rPr lang="zh-CN" altLang="en-US" sz="1600" b="1" dirty="0">
                <a:solidFill>
                  <a:srgbClr val="262626"/>
                </a:solidFill>
                <a:latin typeface="华文中宋" panose="02010600040101010101" pitchFamily="2" charset="-122"/>
                <a:ea typeface="华文中宋" panose="02010600040101010101" pitchFamily="2" charset="-122"/>
              </a:rPr>
              <a:t>使用网络监控工具（如Wireshark）来捕获和分析系统上的网络流量。</a:t>
            </a:r>
            <a:endParaRPr lang="zh-CN" altLang="en-US" sz="1600" b="1" dirty="0">
              <a:solidFill>
                <a:srgbClr val="262626"/>
              </a:solidFill>
              <a:latin typeface="华文中宋" panose="02010600040101010101" pitchFamily="2" charset="-122"/>
              <a:ea typeface="华文中宋" panose="02010600040101010101" pitchFamily="2" charset="-122"/>
            </a:endParaRPr>
          </a:p>
          <a:p>
            <a:pPr marL="285750" indent="-285750" algn="just">
              <a:lnSpc>
                <a:spcPct val="150000"/>
              </a:lnSpc>
              <a:buFont typeface="Arial" panose="020B0604020202020204" pitchFamily="34" charset="0"/>
              <a:buChar char="•"/>
            </a:pPr>
            <a:r>
              <a:rPr lang="zh-CN" altLang="en-US" sz="1600" b="1" dirty="0">
                <a:solidFill>
                  <a:srgbClr val="262626"/>
                </a:solidFill>
                <a:latin typeface="华文中宋" panose="02010600040101010101" pitchFamily="2" charset="-122"/>
                <a:ea typeface="华文中宋" panose="02010600040101010101" pitchFamily="2" charset="-122"/>
              </a:rPr>
              <a:t>查找恶意代码中是否有硬编码的IP地址和端口号，这些通常是恶意代码与外部服务器通信的线索。</a:t>
            </a:r>
            <a:endParaRPr lang="zh-CN" altLang="en-US" sz="1600" b="1" dirty="0">
              <a:solidFill>
                <a:srgbClr val="262626"/>
              </a:solidFill>
              <a:latin typeface="华文中宋" panose="02010600040101010101" pitchFamily="2" charset="-122"/>
              <a:ea typeface="华文中宋" panose="02010600040101010101" pitchFamily="2" charset="-122"/>
            </a:endParaRPr>
          </a:p>
          <a:p>
            <a:pPr marL="285750" indent="-285750" algn="just">
              <a:lnSpc>
                <a:spcPct val="150000"/>
              </a:lnSpc>
              <a:buFont typeface="Arial" panose="020B0604020202020204" pitchFamily="34" charset="0"/>
              <a:buChar char="•"/>
            </a:pPr>
            <a:r>
              <a:rPr lang="zh-CN" altLang="en-US" sz="1600" b="1" dirty="0">
                <a:solidFill>
                  <a:srgbClr val="262626"/>
                </a:solidFill>
                <a:latin typeface="华文中宋" panose="02010600040101010101" pitchFamily="2" charset="-122"/>
                <a:ea typeface="华文中宋" panose="02010600040101010101" pitchFamily="2" charset="-122"/>
              </a:rPr>
              <a:t>通过观察流量中的IP地址、端口号和协议类型，识别恶意代码与外部服务器的通信。</a:t>
            </a:r>
            <a:endParaRPr lang="zh-CN" altLang="en-US" sz="1600" b="1" dirty="0">
              <a:solidFill>
                <a:srgbClr val="262626"/>
              </a:solidFill>
              <a:latin typeface="华文中宋" panose="02010600040101010101" pitchFamily="2" charset="-122"/>
              <a:ea typeface="华文中宋" panose="02010600040101010101" pitchFamily="2" charset="-122"/>
            </a:endParaRPr>
          </a:p>
          <a:p>
            <a:pPr algn="just">
              <a:lnSpc>
                <a:spcPct val="150000"/>
              </a:lnSpc>
            </a:pPr>
            <a:endParaRPr lang="zh-CN" altLang="en-US" sz="1600" b="1" dirty="0">
              <a:solidFill>
                <a:srgbClr val="262626"/>
              </a:solidFill>
              <a:latin typeface="华文中宋" panose="02010600040101010101" pitchFamily="2" charset="-122"/>
              <a:ea typeface="华文中宋" panose="02010600040101010101" pitchFamily="2" charset="-122"/>
            </a:endParaRPr>
          </a:p>
        </p:txBody>
      </p:sp>
      <p:cxnSp>
        <p:nvCxnSpPr>
          <p:cNvPr id="87" name="直接连接符 86"/>
          <p:cNvCxnSpPr/>
          <p:nvPr>
            <p:custDataLst>
              <p:tags r:id="rId8"/>
            </p:custDataLst>
          </p:nvPr>
        </p:nvCxnSpPr>
        <p:spPr>
          <a:xfrm flipH="1">
            <a:off x="6073775" y="1551940"/>
            <a:ext cx="9525" cy="2405380"/>
          </a:xfrm>
          <a:prstGeom prst="line">
            <a:avLst/>
          </a:prstGeom>
          <a:ln w="12700">
            <a:solidFill>
              <a:srgbClr val="C65844"/>
            </a:solidFill>
            <a:prstDash val="dash"/>
          </a:ln>
        </p:spPr>
        <p:style>
          <a:lnRef idx="1">
            <a:schemeClr val="accent1"/>
          </a:lnRef>
          <a:fillRef idx="0">
            <a:schemeClr val="accent1"/>
          </a:fillRef>
          <a:effectRef idx="0">
            <a:schemeClr val="accent1"/>
          </a:effectRef>
          <a:fontRef idx="minor">
            <a:schemeClr val="tx1"/>
          </a:fontRef>
        </p:style>
      </p:cxnSp>
      <p:sp>
        <p:nvSpPr>
          <p:cNvPr id="89" name="文本框 88"/>
          <p:cNvSpPr txBox="1"/>
          <p:nvPr>
            <p:custDataLst>
              <p:tags r:id="rId9"/>
            </p:custDataLst>
          </p:nvPr>
        </p:nvSpPr>
        <p:spPr>
          <a:xfrm>
            <a:off x="1506855" y="4057650"/>
            <a:ext cx="9178290" cy="1111250"/>
          </a:xfrm>
          <a:custGeom>
            <a:avLst/>
            <a:gdLst/>
            <a:ahLst/>
            <a:cxnLst>
              <a:cxn ang="3">
                <a:pos x="hc" y="t"/>
              </a:cxn>
              <a:cxn ang="cd2">
                <a:pos x="l" y="vc"/>
              </a:cxn>
              <a:cxn ang="cd4">
                <a:pos x="hc" y="b"/>
              </a:cxn>
              <a:cxn ang="0">
                <a:pos x="r" y="vc"/>
              </a:cxn>
            </a:cxnLst>
            <a:rect l="l" t="t" r="r" b="b"/>
            <a:pathLst>
              <a:path w="16734" h="3016">
                <a:moveTo>
                  <a:pt x="15039" y="521"/>
                </a:moveTo>
                <a:lnTo>
                  <a:pt x="15044" y="550"/>
                </a:lnTo>
                <a:cubicBezTo>
                  <a:pt x="15067" y="676"/>
                  <a:pt x="15079" y="816"/>
                  <a:pt x="15079" y="970"/>
                </a:cubicBezTo>
                <a:lnTo>
                  <a:pt x="15079" y="2983"/>
                </a:lnTo>
                <a:lnTo>
                  <a:pt x="14947" y="2989"/>
                </a:lnTo>
                <a:cubicBezTo>
                  <a:pt x="14668" y="3002"/>
                  <a:pt x="14388" y="3009"/>
                  <a:pt x="14109" y="3013"/>
                </a:cubicBezTo>
                <a:lnTo>
                  <a:pt x="14048" y="3014"/>
                </a:lnTo>
                <a:lnTo>
                  <a:pt x="14048" y="1038"/>
                </a:lnTo>
                <a:cubicBezTo>
                  <a:pt x="14048" y="903"/>
                  <a:pt x="14032" y="809"/>
                  <a:pt x="14000" y="757"/>
                </a:cubicBezTo>
                <a:cubicBezTo>
                  <a:pt x="13968" y="704"/>
                  <a:pt x="13910" y="678"/>
                  <a:pt x="13827" y="678"/>
                </a:cubicBezTo>
                <a:cubicBezTo>
                  <a:pt x="13666" y="678"/>
                  <a:pt x="13586" y="798"/>
                  <a:pt x="13586" y="1038"/>
                </a:cubicBezTo>
                <a:lnTo>
                  <a:pt x="13586" y="1470"/>
                </a:lnTo>
                <a:lnTo>
                  <a:pt x="13883" y="1470"/>
                </a:lnTo>
                <a:lnTo>
                  <a:pt x="13883" y="2384"/>
                </a:lnTo>
                <a:lnTo>
                  <a:pt x="13586" y="2384"/>
                </a:lnTo>
                <a:lnTo>
                  <a:pt x="13586" y="3016"/>
                </a:lnTo>
                <a:lnTo>
                  <a:pt x="13550" y="3016"/>
                </a:lnTo>
                <a:cubicBezTo>
                  <a:pt x="13224" y="3015"/>
                  <a:pt x="12898" y="3008"/>
                  <a:pt x="12572" y="2998"/>
                </a:cubicBezTo>
                <a:lnTo>
                  <a:pt x="12555" y="2998"/>
                </a:lnTo>
                <a:lnTo>
                  <a:pt x="12555" y="1005"/>
                </a:lnTo>
                <a:cubicBezTo>
                  <a:pt x="12555" y="846"/>
                  <a:pt x="12571" y="699"/>
                  <a:pt x="12604" y="566"/>
                </a:cubicBezTo>
                <a:lnTo>
                  <a:pt x="12612" y="535"/>
                </a:lnTo>
                <a:lnTo>
                  <a:pt x="12712" y="538"/>
                </a:lnTo>
                <a:cubicBezTo>
                  <a:pt x="13457" y="559"/>
                  <a:pt x="14202" y="558"/>
                  <a:pt x="14947" y="525"/>
                </a:cubicBezTo>
                <a:lnTo>
                  <a:pt x="15039" y="521"/>
                </a:lnTo>
                <a:close/>
                <a:moveTo>
                  <a:pt x="10818" y="448"/>
                </a:moveTo>
                <a:lnTo>
                  <a:pt x="11035" y="462"/>
                </a:lnTo>
                <a:cubicBezTo>
                  <a:pt x="11268" y="476"/>
                  <a:pt x="11501" y="489"/>
                  <a:pt x="11734" y="500"/>
                </a:cubicBezTo>
                <a:lnTo>
                  <a:pt x="11837" y="505"/>
                </a:lnTo>
                <a:lnTo>
                  <a:pt x="11367" y="1315"/>
                </a:lnTo>
                <a:lnTo>
                  <a:pt x="12168" y="2984"/>
                </a:lnTo>
                <a:lnTo>
                  <a:pt x="12153" y="2983"/>
                </a:lnTo>
                <a:cubicBezTo>
                  <a:pt x="11780" y="2968"/>
                  <a:pt x="11408" y="2949"/>
                  <a:pt x="11035" y="2926"/>
                </a:cubicBezTo>
                <a:lnTo>
                  <a:pt x="11001" y="2924"/>
                </a:lnTo>
                <a:lnTo>
                  <a:pt x="10333" y="1295"/>
                </a:lnTo>
                <a:lnTo>
                  <a:pt x="10818" y="448"/>
                </a:lnTo>
                <a:close/>
                <a:moveTo>
                  <a:pt x="16734" y="379"/>
                </a:moveTo>
                <a:lnTo>
                  <a:pt x="16734" y="2843"/>
                </a:lnTo>
                <a:lnTo>
                  <a:pt x="16624" y="2856"/>
                </a:lnTo>
                <a:cubicBezTo>
                  <a:pt x="16344" y="2889"/>
                  <a:pt x="16065" y="2916"/>
                  <a:pt x="15785" y="2938"/>
                </a:cubicBezTo>
                <a:lnTo>
                  <a:pt x="15703" y="2944"/>
                </a:lnTo>
                <a:lnTo>
                  <a:pt x="15703" y="480"/>
                </a:lnTo>
                <a:lnTo>
                  <a:pt x="15785" y="474"/>
                </a:lnTo>
                <a:cubicBezTo>
                  <a:pt x="16065" y="452"/>
                  <a:pt x="16344" y="425"/>
                  <a:pt x="16624" y="392"/>
                </a:cubicBezTo>
                <a:lnTo>
                  <a:pt x="16734" y="379"/>
                </a:lnTo>
                <a:close/>
                <a:moveTo>
                  <a:pt x="9272" y="336"/>
                </a:moveTo>
                <a:lnTo>
                  <a:pt x="9359" y="343"/>
                </a:lnTo>
                <a:cubicBezTo>
                  <a:pt x="9638" y="364"/>
                  <a:pt x="9918" y="386"/>
                  <a:pt x="10197" y="406"/>
                </a:cubicBezTo>
                <a:lnTo>
                  <a:pt x="10303" y="413"/>
                </a:lnTo>
                <a:lnTo>
                  <a:pt x="10303" y="2877"/>
                </a:lnTo>
                <a:lnTo>
                  <a:pt x="10197" y="2870"/>
                </a:lnTo>
                <a:cubicBezTo>
                  <a:pt x="9918" y="2850"/>
                  <a:pt x="9638" y="2829"/>
                  <a:pt x="9359" y="2807"/>
                </a:cubicBezTo>
                <a:lnTo>
                  <a:pt x="9272" y="2800"/>
                </a:lnTo>
                <a:lnTo>
                  <a:pt x="9272" y="336"/>
                </a:lnTo>
                <a:close/>
                <a:moveTo>
                  <a:pt x="6402" y="116"/>
                </a:moveTo>
                <a:lnTo>
                  <a:pt x="6565" y="127"/>
                </a:lnTo>
                <a:cubicBezTo>
                  <a:pt x="7030" y="159"/>
                  <a:pt x="7496" y="194"/>
                  <a:pt x="7962" y="231"/>
                </a:cubicBezTo>
                <a:lnTo>
                  <a:pt x="8511" y="275"/>
                </a:lnTo>
                <a:lnTo>
                  <a:pt x="8511" y="276"/>
                </a:lnTo>
                <a:cubicBezTo>
                  <a:pt x="8600" y="472"/>
                  <a:pt x="8645" y="712"/>
                  <a:pt x="8645" y="995"/>
                </a:cubicBezTo>
                <a:lnTo>
                  <a:pt x="8645" y="2750"/>
                </a:lnTo>
                <a:lnTo>
                  <a:pt x="8521" y="2740"/>
                </a:lnTo>
                <a:cubicBezTo>
                  <a:pt x="8241" y="2718"/>
                  <a:pt x="7962" y="2695"/>
                  <a:pt x="7682" y="2673"/>
                </a:cubicBezTo>
                <a:lnTo>
                  <a:pt x="7614" y="2668"/>
                </a:lnTo>
                <a:lnTo>
                  <a:pt x="7614" y="995"/>
                </a:lnTo>
                <a:cubicBezTo>
                  <a:pt x="7614" y="784"/>
                  <a:pt x="7539" y="678"/>
                  <a:pt x="7388" y="678"/>
                </a:cubicBezTo>
                <a:cubicBezTo>
                  <a:pt x="7243" y="678"/>
                  <a:pt x="7170" y="784"/>
                  <a:pt x="7170" y="995"/>
                </a:cubicBezTo>
                <a:lnTo>
                  <a:pt x="7170" y="2634"/>
                </a:lnTo>
                <a:lnTo>
                  <a:pt x="7123" y="2631"/>
                </a:lnTo>
                <a:cubicBezTo>
                  <a:pt x="6844" y="2610"/>
                  <a:pt x="6565" y="2590"/>
                  <a:pt x="6285" y="2572"/>
                </a:cubicBezTo>
                <a:lnTo>
                  <a:pt x="6139" y="2563"/>
                </a:lnTo>
                <a:lnTo>
                  <a:pt x="6139" y="960"/>
                </a:lnTo>
                <a:cubicBezTo>
                  <a:pt x="6139" y="627"/>
                  <a:pt x="6223" y="350"/>
                  <a:pt x="6391" y="129"/>
                </a:cubicBezTo>
                <a:lnTo>
                  <a:pt x="6402" y="116"/>
                </a:lnTo>
                <a:close/>
                <a:moveTo>
                  <a:pt x="2212" y="22"/>
                </a:moveTo>
                <a:lnTo>
                  <a:pt x="2214" y="24"/>
                </a:lnTo>
                <a:cubicBezTo>
                  <a:pt x="2409" y="253"/>
                  <a:pt x="2506" y="577"/>
                  <a:pt x="2506" y="995"/>
                </a:cubicBezTo>
                <a:lnTo>
                  <a:pt x="2506" y="2476"/>
                </a:lnTo>
                <a:lnTo>
                  <a:pt x="2373" y="2480"/>
                </a:lnTo>
                <a:cubicBezTo>
                  <a:pt x="2094" y="2489"/>
                  <a:pt x="1814" y="2503"/>
                  <a:pt x="1535" y="2522"/>
                </a:cubicBezTo>
                <a:lnTo>
                  <a:pt x="1475" y="2526"/>
                </a:lnTo>
                <a:lnTo>
                  <a:pt x="1475" y="995"/>
                </a:lnTo>
                <a:cubicBezTo>
                  <a:pt x="1475" y="784"/>
                  <a:pt x="1400" y="678"/>
                  <a:pt x="1249" y="678"/>
                </a:cubicBezTo>
                <a:cubicBezTo>
                  <a:pt x="1104" y="678"/>
                  <a:pt x="1031" y="784"/>
                  <a:pt x="1031" y="995"/>
                </a:cubicBezTo>
                <a:lnTo>
                  <a:pt x="1031" y="2561"/>
                </a:lnTo>
                <a:lnTo>
                  <a:pt x="976" y="2566"/>
                </a:lnTo>
                <a:cubicBezTo>
                  <a:pt x="697" y="2591"/>
                  <a:pt x="417" y="2622"/>
                  <a:pt x="138" y="2659"/>
                </a:cubicBezTo>
                <a:lnTo>
                  <a:pt x="0" y="2677"/>
                </a:lnTo>
                <a:lnTo>
                  <a:pt x="0" y="960"/>
                </a:lnTo>
                <a:cubicBezTo>
                  <a:pt x="0" y="664"/>
                  <a:pt x="66" y="412"/>
                  <a:pt x="199" y="205"/>
                </a:cubicBezTo>
                <a:lnTo>
                  <a:pt x="213" y="185"/>
                </a:lnTo>
                <a:lnTo>
                  <a:pt x="278" y="177"/>
                </a:lnTo>
                <a:cubicBezTo>
                  <a:pt x="883" y="101"/>
                  <a:pt x="1488" y="53"/>
                  <a:pt x="2094" y="27"/>
                </a:cubicBezTo>
                <a:lnTo>
                  <a:pt x="2212" y="22"/>
                </a:lnTo>
                <a:close/>
                <a:moveTo>
                  <a:pt x="3423" y="0"/>
                </a:moveTo>
                <a:lnTo>
                  <a:pt x="3491" y="0"/>
                </a:lnTo>
                <a:cubicBezTo>
                  <a:pt x="4096" y="3"/>
                  <a:pt x="4702" y="22"/>
                  <a:pt x="5307" y="51"/>
                </a:cubicBezTo>
                <a:lnTo>
                  <a:pt x="5355" y="54"/>
                </a:lnTo>
                <a:lnTo>
                  <a:pt x="5362" y="64"/>
                </a:lnTo>
                <a:cubicBezTo>
                  <a:pt x="5511" y="277"/>
                  <a:pt x="5586" y="579"/>
                  <a:pt x="5586" y="970"/>
                </a:cubicBezTo>
                <a:lnTo>
                  <a:pt x="5586" y="2530"/>
                </a:lnTo>
                <a:lnTo>
                  <a:pt x="5447" y="2523"/>
                </a:lnTo>
                <a:cubicBezTo>
                  <a:pt x="5167" y="2508"/>
                  <a:pt x="4888" y="2496"/>
                  <a:pt x="4609" y="2486"/>
                </a:cubicBezTo>
                <a:lnTo>
                  <a:pt x="4555" y="2485"/>
                </a:lnTo>
                <a:lnTo>
                  <a:pt x="4555" y="1038"/>
                </a:lnTo>
                <a:cubicBezTo>
                  <a:pt x="4555" y="903"/>
                  <a:pt x="4539" y="809"/>
                  <a:pt x="4507" y="757"/>
                </a:cubicBezTo>
                <a:cubicBezTo>
                  <a:pt x="4475" y="704"/>
                  <a:pt x="4417" y="678"/>
                  <a:pt x="4334" y="678"/>
                </a:cubicBezTo>
                <a:cubicBezTo>
                  <a:pt x="4173" y="678"/>
                  <a:pt x="4093" y="798"/>
                  <a:pt x="4093" y="1038"/>
                </a:cubicBezTo>
                <a:lnTo>
                  <a:pt x="4093" y="1470"/>
                </a:lnTo>
                <a:lnTo>
                  <a:pt x="4390" y="1470"/>
                </a:lnTo>
                <a:lnTo>
                  <a:pt x="4390" y="2384"/>
                </a:lnTo>
                <a:lnTo>
                  <a:pt x="4093" y="2384"/>
                </a:lnTo>
                <a:lnTo>
                  <a:pt x="4093" y="2472"/>
                </a:lnTo>
                <a:lnTo>
                  <a:pt x="4050" y="2471"/>
                </a:lnTo>
                <a:cubicBezTo>
                  <a:pt x="3724" y="2465"/>
                  <a:pt x="3398" y="2462"/>
                  <a:pt x="3072" y="2465"/>
                </a:cubicBezTo>
                <a:lnTo>
                  <a:pt x="3062" y="2465"/>
                </a:lnTo>
                <a:lnTo>
                  <a:pt x="3062" y="1005"/>
                </a:lnTo>
                <a:cubicBezTo>
                  <a:pt x="3062" y="579"/>
                  <a:pt x="3178" y="247"/>
                  <a:pt x="3411" y="11"/>
                </a:cubicBezTo>
                <a:lnTo>
                  <a:pt x="3423" y="0"/>
                </a:lnTo>
                <a:close/>
              </a:path>
            </a:pathLst>
          </a:custGeom>
          <a:solidFill>
            <a:srgbClr val="B78EAE"/>
          </a:solidFill>
          <a:effectLst/>
        </p:spPr>
        <p:txBody>
          <a:bodyPr wrap="square" rtlCol="0">
            <a:noAutofit/>
          </a:bodyPr>
          <a:lstStyle/>
          <a:p>
            <a:endParaRPr lang="en-US" altLang="zh-CN" sz="26000">
              <a:solidFill>
                <a:srgbClr val="C65844"/>
              </a:solidFill>
              <a:latin typeface="Bauhaus 93" panose="04030905020B02020C02" charset="0"/>
              <a:cs typeface="Bauhaus 93" panose="04030905020B02020C02" charset="0"/>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80000"/>
          </a:srgbClr>
        </a:solidFill>
        <a:effectLst/>
      </p:bgPr>
    </p:bg>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a:latin typeface="微软雅黑" panose="020B0503020204020204" pitchFamily="34" charset="-122"/>
                <a:ea typeface="微软雅黑" panose="020B0503020204020204" pitchFamily="34" charset="-122"/>
              </a:rPr>
              <a:t>PART</a:t>
            </a:r>
            <a:endParaRPr lang="en-US" altLang="zh-CN" sz="4000" b="1">
              <a:latin typeface="微软雅黑" panose="020B0503020204020204" pitchFamily="34" charset="-122"/>
              <a:ea typeface="微软雅黑" panose="020B0503020204020204" pitchFamily="34" charset="-122"/>
            </a:endParaRPr>
          </a:p>
          <a:p>
            <a:pPr algn="ctr" fontAlgn="auto">
              <a:lnSpc>
                <a:spcPts val="4000"/>
              </a:lnSpc>
            </a:pPr>
            <a:r>
              <a:rPr lang="en-US" altLang="zh-CN" sz="4000" b="1">
                <a:latin typeface="微软雅黑" panose="020B0503020204020204" pitchFamily="34" charset="-122"/>
                <a:ea typeface="微软雅黑" panose="020B0503020204020204" pitchFamily="34" charset="-122"/>
              </a:rPr>
              <a:t>END</a:t>
            </a:r>
            <a:endParaRPr lang="en-US" altLang="zh-CN" sz="4000" b="1">
              <a:latin typeface="微软雅黑" panose="020B0503020204020204" pitchFamily="34" charset="-122"/>
              <a:ea typeface="微软雅黑" panose="020B0503020204020204" pitchFamily="34" charset="-122"/>
            </a:endParaRPr>
          </a:p>
        </p:txBody>
      </p:sp>
      <p:sp>
        <p:nvSpPr>
          <p:cNvPr id="9240" name="文本框 47"/>
          <p:cNvSpPr txBox="1"/>
          <p:nvPr/>
        </p:nvSpPr>
        <p:spPr>
          <a:xfrm>
            <a:off x="6429058" y="2884805"/>
            <a:ext cx="5762625" cy="1014730"/>
          </a:xfrm>
          <a:prstGeom prst="rect">
            <a:avLst/>
          </a:prstGeom>
          <a:noFill/>
          <a:ln w="9525">
            <a:noFill/>
          </a:ln>
        </p:spPr>
        <p:txBody>
          <a:bodyPr vert="horz" wrap="square" anchor="t">
            <a:spAutoFit/>
          </a:bodyPr>
          <a:lstStyle/>
          <a:p>
            <a:pPr lvl="0" algn="ctr">
              <a:buClrTx/>
              <a:buSzTx/>
              <a:buFontTx/>
            </a:pP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心得体会</a:t>
            </a:r>
            <a:endPar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757873" y="1539286"/>
            <a:ext cx="3546475" cy="1908369"/>
            <a:chOff x="1478" y="3983"/>
            <a:chExt cx="5585" cy="3005"/>
          </a:xfrm>
        </p:grpSpPr>
        <p:sp>
          <p:nvSpPr>
            <p:cNvPr id="10263" name="333333"/>
            <p:cNvSpPr txBox="1"/>
            <p:nvPr/>
          </p:nvSpPr>
          <p:spPr>
            <a:xfrm>
              <a:off x="3131" y="3983"/>
              <a:ext cx="3932" cy="519"/>
            </a:xfrm>
            <a:prstGeom prst="rect">
              <a:avLst/>
            </a:prstGeom>
            <a:noFill/>
            <a:ln w="9525">
              <a:noFill/>
            </a:ln>
          </p:spPr>
          <p:txBody>
            <a:bodyPr wrap="square" anchor="t">
              <a:no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恶意代码的</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多样性</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41" name="1111"/>
            <p:cNvSpPr txBox="1"/>
            <p:nvPr/>
          </p:nvSpPr>
          <p:spPr>
            <a:xfrm>
              <a:off x="1478" y="4518"/>
              <a:ext cx="5350" cy="2470"/>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恶意代码有各种各样的隐藏技术以及在主机上的不同感染迹象特征的差异。整体思路不变，但要有判断</a:t>
              </a:r>
              <a:r>
                <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xxx</a:t>
              </a: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是恶意代码特征的</a:t>
              </a: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能力。</a:t>
              </a:r>
              <a:endPar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sp>
        <p:nvSpPr>
          <p:cNvPr id="14" name="文本框 13"/>
          <p:cNvSpPr txBox="1"/>
          <p:nvPr/>
        </p:nvSpPr>
        <p:spPr>
          <a:xfrm>
            <a:off x="4697095" y="390751"/>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心得体会</a:t>
            </a:r>
            <a:endParaRPr lang="en-US" altLang="zh-CN"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4216400" y="1982470"/>
            <a:ext cx="3756660" cy="4702810"/>
            <a:chOff x="6640" y="3122"/>
            <a:chExt cx="5916" cy="7406"/>
          </a:xfrm>
        </p:grpSpPr>
        <p:grpSp>
          <p:nvGrpSpPr>
            <p:cNvPr id="4" name="组合 3"/>
            <p:cNvGrpSpPr/>
            <p:nvPr/>
          </p:nvGrpSpPr>
          <p:grpSpPr>
            <a:xfrm>
              <a:off x="7975" y="8620"/>
              <a:ext cx="3247" cy="1908"/>
              <a:chOff x="7975" y="8620"/>
              <a:chExt cx="3247" cy="1908"/>
            </a:xfrm>
          </p:grpSpPr>
          <p:sp>
            <p:nvSpPr>
              <p:cNvPr id="2" name="菱形 1"/>
              <p:cNvSpPr/>
              <p:nvPr/>
            </p:nvSpPr>
            <p:spPr>
              <a:xfrm>
                <a:off x="8527" y="8620"/>
                <a:ext cx="2143" cy="593"/>
              </a:xfrm>
              <a:prstGeom prst="diamond">
                <a:avLst/>
              </a:prstGeom>
              <a:solidFill>
                <a:srgbClr val="701E5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8525" y="8922"/>
                <a:ext cx="2145" cy="1606"/>
                <a:chOff x="8525" y="8922"/>
                <a:chExt cx="2145" cy="1606"/>
              </a:xfrm>
            </p:grpSpPr>
            <p:sp>
              <p:nvSpPr>
                <p:cNvPr id="30" name="椭圆 29"/>
                <p:cNvSpPr/>
                <p:nvPr/>
              </p:nvSpPr>
              <p:spPr>
                <a:xfrm>
                  <a:off x="8525" y="9692"/>
                  <a:ext cx="2144" cy="837"/>
                </a:xfrm>
                <a:prstGeom prst="ellipse">
                  <a:avLst/>
                </a:prstGeom>
                <a:gradFill>
                  <a:gsLst>
                    <a:gs pos="0">
                      <a:schemeClr val="bg1">
                        <a:lumMod val="50000"/>
                      </a:schemeClr>
                    </a:gs>
                    <a:gs pos="100000">
                      <a:schemeClr val="bg1">
                        <a:lumMod val="9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6200000">
                  <a:off x="8332" y="9117"/>
                  <a:ext cx="1463" cy="1072"/>
                </a:xfrm>
                <a:prstGeom prst="parallelogram">
                  <a:avLst>
                    <a:gd name="adj" fmla="val 27747"/>
                  </a:avLst>
                </a:prstGeom>
                <a:solidFill>
                  <a:srgbClr val="A2508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rot="180000">
                  <a:off x="8586" y="9925"/>
                  <a:ext cx="954" cy="362"/>
                </a:xfrm>
                <a:prstGeom prst="rect">
                  <a:avLst/>
                </a:prstGeom>
                <a:noFill/>
              </p:spPr>
              <p:txBody>
                <a:bodyPr wrap="none" rtlCol="0">
                  <a:prstTxWarp prst="textSlantDown">
                    <a:avLst/>
                  </a:prstTxWarp>
                  <a:spAutoFit/>
                </a:bodyPr>
                <a:lstStyle/>
                <a:p>
                  <a:pPr algn="dist"/>
                  <a:r>
                    <a:rPr lang="en-US" altLang="zh-CN" sz="700">
                      <a:solidFill>
                        <a:schemeClr val="bg1">
                          <a:alpha val="50000"/>
                        </a:schemeClr>
                      </a:solidFill>
                      <a:latin typeface="微软雅黑 Light" panose="020B0502040204020203" charset="-122"/>
                      <a:ea typeface="微软雅黑 Light" panose="020B0502040204020203" charset="-122"/>
                    </a:rPr>
                    <a:t>NANKAI</a:t>
                  </a:r>
                  <a:endParaRPr lang="en-US" altLang="zh-CN" sz="700">
                    <a:solidFill>
                      <a:schemeClr val="bg1">
                        <a:alpha val="50000"/>
                      </a:schemeClr>
                    </a:solidFill>
                    <a:latin typeface="微软雅黑 Light" panose="020B0502040204020203" charset="-122"/>
                    <a:ea typeface="微软雅黑 Light" panose="020B0502040204020203" charset="-122"/>
                  </a:endParaRPr>
                </a:p>
              </p:txBody>
            </p:sp>
            <p:sp>
              <p:nvSpPr>
                <p:cNvPr id="9" name="平行四边形 8"/>
                <p:cNvSpPr/>
                <p:nvPr/>
              </p:nvSpPr>
              <p:spPr>
                <a:xfrm rot="5400000" flipH="1">
                  <a:off x="9403" y="9118"/>
                  <a:ext cx="1463" cy="1072"/>
                </a:xfrm>
                <a:prstGeom prst="parallelogram">
                  <a:avLst>
                    <a:gd name="adj" fmla="val 27747"/>
                  </a:avLst>
                </a:prstGeom>
                <a:solidFill>
                  <a:srgbClr val="A2508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rot="21360000">
                  <a:off x="9629" y="9935"/>
                  <a:ext cx="1011" cy="351"/>
                </a:xfrm>
                <a:prstGeom prst="rect">
                  <a:avLst/>
                </a:prstGeom>
                <a:noFill/>
              </p:spPr>
              <p:txBody>
                <a:bodyPr wrap="square" lIns="0" tIns="0" rIns="0" bIns="0" rtlCol="0">
                  <a:prstTxWarp prst="textSlantUp">
                    <a:avLst>
                      <a:gd name="adj" fmla="val 49572"/>
                    </a:avLst>
                  </a:prstTxWarp>
                  <a:spAutoFit/>
                </a:bodyPr>
                <a:lstStyle/>
                <a:p>
                  <a:pPr algn="ctr"/>
                  <a:r>
                    <a:rPr lang="en-US" altLang="zh-CN" sz="700">
                      <a:solidFill>
                        <a:schemeClr val="bg1">
                          <a:alpha val="50000"/>
                        </a:schemeClr>
                      </a:solidFill>
                      <a:latin typeface="微软雅黑 Light" panose="020B0502040204020203" charset="-122"/>
                      <a:ea typeface="微软雅黑 Light" panose="020B0502040204020203" charset="-122"/>
                    </a:rPr>
                    <a:t>UNIVERSITY</a:t>
                  </a:r>
                  <a:endParaRPr lang="en-US" altLang="zh-CN" sz="700">
                    <a:solidFill>
                      <a:schemeClr val="bg1">
                        <a:alpha val="50000"/>
                      </a:schemeClr>
                    </a:solidFill>
                    <a:latin typeface="微软雅黑 Light" panose="020B0502040204020203" charset="-122"/>
                    <a:ea typeface="微软雅黑 Light" panose="020B0502040204020203" charset="-122"/>
                  </a:endParaRPr>
                </a:p>
              </p:txBody>
            </p:sp>
          </p:grpSp>
          <p:sp>
            <p:nvSpPr>
              <p:cNvPr id="10" name="平行四边形 9"/>
              <p:cNvSpPr/>
              <p:nvPr/>
            </p:nvSpPr>
            <p:spPr>
              <a:xfrm rot="900000">
                <a:off x="7975" y="8997"/>
                <a:ext cx="1589" cy="479"/>
              </a:xfrm>
              <a:prstGeom prst="parallelogram">
                <a:avLst>
                  <a:gd name="adj" fmla="val 99146"/>
                </a:avLst>
              </a:prstGeom>
              <a:solidFill>
                <a:srgbClr val="B78E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b" anchorCtr="0"/>
              <a:lstStyle/>
              <a:p>
                <a:pPr algn="dist"/>
                <a:endParaRPr lang="en-US" altLang="zh-CN" sz="800">
                  <a:latin typeface="微软雅黑 Light" panose="020B0502040204020203" charset="-122"/>
                  <a:ea typeface="微软雅黑 Light" panose="020B0502040204020203" charset="-122"/>
                </a:endParaRPr>
              </a:p>
            </p:txBody>
          </p:sp>
          <p:sp>
            <p:nvSpPr>
              <p:cNvPr id="12" name="平行四边形 11"/>
              <p:cNvSpPr/>
              <p:nvPr/>
            </p:nvSpPr>
            <p:spPr>
              <a:xfrm rot="20700000" flipH="1">
                <a:off x="9634" y="8997"/>
                <a:ext cx="1589" cy="479"/>
              </a:xfrm>
              <a:prstGeom prst="parallelogram">
                <a:avLst>
                  <a:gd name="adj" fmla="val 99146"/>
                </a:avLst>
              </a:prstGeom>
              <a:solidFill>
                <a:srgbClr val="B78E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圆角右箭头 14"/>
            <p:cNvSpPr/>
            <p:nvPr/>
          </p:nvSpPr>
          <p:spPr>
            <a:xfrm>
              <a:off x="9580" y="3122"/>
              <a:ext cx="2131" cy="5660"/>
            </a:xfrm>
            <a:prstGeom prst="bentArrow">
              <a:avLst>
                <a:gd name="adj1" fmla="val 8399"/>
                <a:gd name="adj2" fmla="val 13033"/>
                <a:gd name="adj3" fmla="val 20027"/>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圆角右箭头 16"/>
            <p:cNvSpPr/>
            <p:nvPr/>
          </p:nvSpPr>
          <p:spPr>
            <a:xfrm flipH="1">
              <a:off x="6640" y="3920"/>
              <a:ext cx="2940" cy="5001"/>
            </a:xfrm>
            <a:prstGeom prst="bentArrow">
              <a:avLst>
                <a:gd name="adj1" fmla="val 6292"/>
                <a:gd name="adj2" fmla="val 10222"/>
                <a:gd name="adj3" fmla="val 17201"/>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圆角右箭头 15"/>
            <p:cNvSpPr/>
            <p:nvPr/>
          </p:nvSpPr>
          <p:spPr>
            <a:xfrm>
              <a:off x="9598" y="5901"/>
              <a:ext cx="2958" cy="2881"/>
            </a:xfrm>
            <a:prstGeom prst="bentArrow">
              <a:avLst>
                <a:gd name="adj1" fmla="val 7636"/>
                <a:gd name="adj2" fmla="val 13033"/>
                <a:gd name="adj3" fmla="val 20027"/>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圆角右箭头 17"/>
            <p:cNvSpPr/>
            <p:nvPr/>
          </p:nvSpPr>
          <p:spPr>
            <a:xfrm flipH="1">
              <a:off x="7449" y="6617"/>
              <a:ext cx="2148" cy="2305"/>
            </a:xfrm>
            <a:prstGeom prst="bentArrow">
              <a:avLst>
                <a:gd name="adj1" fmla="val 8752"/>
                <a:gd name="adj2" fmla="val 12536"/>
                <a:gd name="adj3" fmla="val 17201"/>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3008630" y="315595"/>
            <a:ext cx="6175375" cy="668020"/>
          </a:xfrm>
          <a:prstGeom prst="roundRect">
            <a:avLst>
              <a:gd name="adj" fmla="val 49999"/>
            </a:avLst>
          </a:prstGeom>
          <a:solidFill>
            <a:srgbClr val="701E5E"/>
          </a:solidFill>
        </p:spPr>
        <p:txBody>
          <a:bodyPr wrap="square" rtlCol="0" anchor="t">
            <a:no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恶意代码不同感染迹象特征</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41" name="组合 40"/>
          <p:cNvGrpSpPr/>
          <p:nvPr/>
        </p:nvGrpSpPr>
        <p:grpSpPr>
          <a:xfrm>
            <a:off x="3407410" y="5048981"/>
            <a:ext cx="8303895" cy="441325"/>
            <a:chOff x="1478" y="3827"/>
            <a:chExt cx="13077" cy="695"/>
          </a:xfrm>
        </p:grpSpPr>
        <p:sp>
          <p:nvSpPr>
            <p:cNvPr id="42" name="333333"/>
            <p:cNvSpPr txBox="1"/>
            <p:nvPr/>
          </p:nvSpPr>
          <p:spPr>
            <a:xfrm>
              <a:off x="1478" y="3883"/>
              <a:ext cx="1811" cy="580"/>
            </a:xfrm>
            <a:prstGeom prst="rect">
              <a:avLst/>
            </a:prstGeom>
            <a:noFill/>
            <a:ln w="9525">
              <a:noFill/>
            </a:ln>
          </p:spPr>
          <p:txBody>
            <a:bodyPr wrap="square" anchor="t">
              <a:spAutoFit/>
            </a:bodyPr>
            <a:lstStyle/>
            <a:p>
              <a:pPr algn="l"/>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1111"/>
            <p:cNvSpPr txBox="1"/>
            <p:nvPr/>
          </p:nvSpPr>
          <p:spPr>
            <a:xfrm>
              <a:off x="1828" y="3827"/>
              <a:ext cx="12727" cy="695"/>
            </a:xfrm>
            <a:prstGeom prst="rect">
              <a:avLst/>
            </a:prstGeom>
            <a:noFill/>
            <a:ln w="9525">
              <a:noFill/>
            </a:ln>
          </p:spPr>
          <p:txBody>
            <a:bodyPr wrap="square" tIns="36195" bIns="36195" anchor="t">
              <a:spAutoFit/>
            </a:bodyPr>
            <a:lstStyle/>
            <a:p>
              <a:pPr algn="just">
                <a:lnSpc>
                  <a:spcPct val="150000"/>
                </a:lnSpc>
              </a:pPr>
              <a:endParaRPr lang="zh-CN" sz="1600" b="1"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sp>
        <p:nvSpPr>
          <p:cNvPr id="8" name="八角星 7"/>
          <p:cNvSpPr/>
          <p:nvPr/>
        </p:nvSpPr>
        <p:spPr>
          <a:xfrm>
            <a:off x="1720215" y="1266190"/>
            <a:ext cx="975995" cy="975995"/>
          </a:xfrm>
          <a:prstGeom prst="star8">
            <a:avLst>
              <a:gd name="adj" fmla="val 38288"/>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八角星 8"/>
          <p:cNvSpPr/>
          <p:nvPr/>
        </p:nvSpPr>
        <p:spPr>
          <a:xfrm>
            <a:off x="1720215" y="2644140"/>
            <a:ext cx="975995" cy="975995"/>
          </a:xfrm>
          <a:prstGeom prst="star8">
            <a:avLst>
              <a:gd name="adj" fmla="val 38288"/>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八角星 9"/>
          <p:cNvSpPr/>
          <p:nvPr/>
        </p:nvSpPr>
        <p:spPr>
          <a:xfrm>
            <a:off x="1720850" y="4022090"/>
            <a:ext cx="975995" cy="975995"/>
          </a:xfrm>
          <a:prstGeom prst="star8">
            <a:avLst>
              <a:gd name="adj" fmla="val 38288"/>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八角星 26"/>
          <p:cNvSpPr/>
          <p:nvPr/>
        </p:nvSpPr>
        <p:spPr>
          <a:xfrm>
            <a:off x="1720215" y="5400040"/>
            <a:ext cx="975995" cy="975995"/>
          </a:xfrm>
          <a:prstGeom prst="star8">
            <a:avLst>
              <a:gd name="adj" fmla="val 38288"/>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custDataLst>
              <p:tags r:id="rId1"/>
            </p:custDataLst>
          </p:nvPr>
        </p:nvGrpSpPr>
        <p:grpSpPr>
          <a:xfrm>
            <a:off x="3629612" y="1054590"/>
            <a:ext cx="8081693" cy="1386953"/>
            <a:chOff x="3629612" y="1054590"/>
            <a:chExt cx="8081693" cy="1386953"/>
          </a:xfrm>
        </p:grpSpPr>
        <p:grpSp>
          <p:nvGrpSpPr>
            <p:cNvPr id="23" name="组合 22"/>
            <p:cNvGrpSpPr/>
            <p:nvPr/>
          </p:nvGrpSpPr>
          <p:grpSpPr>
            <a:xfrm>
              <a:off x="3655695" y="1054590"/>
              <a:ext cx="8055610" cy="816058"/>
              <a:chOff x="1478" y="3860"/>
              <a:chExt cx="12686" cy="1285"/>
            </a:xfrm>
          </p:grpSpPr>
          <p:sp>
            <p:nvSpPr>
              <p:cNvPr id="24" name="333333"/>
              <p:cNvSpPr txBox="1"/>
              <p:nvPr>
                <p:custDataLst>
                  <p:tags r:id="rId2"/>
                </p:custDataLst>
              </p:nvPr>
            </p:nvSpPr>
            <p:spPr>
              <a:xfrm>
                <a:off x="1478" y="3860"/>
                <a:ext cx="3386"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复制</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自身</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1111"/>
              <p:cNvSpPr txBox="1"/>
              <p:nvPr>
                <p:custDataLst>
                  <p:tags r:id="rId3"/>
                </p:custDataLst>
              </p:nvPr>
            </p:nvSpPr>
            <p:spPr>
              <a:xfrm>
                <a:off x="1478" y="4304"/>
                <a:ext cx="12686" cy="841"/>
              </a:xfrm>
              <a:prstGeom prst="rect">
                <a:avLst/>
              </a:prstGeom>
              <a:noFill/>
              <a:ln w="9525">
                <a:noFill/>
              </a:ln>
            </p:spPr>
            <p:txBody>
              <a:bodyPr wrap="square" tIns="36195" bIns="36195" anchor="t">
                <a:noAutofit/>
              </a:bodyPr>
              <a:lstStyle/>
              <a:p>
                <a:pPr algn="just">
                  <a:lnSpc>
                    <a:spcPct val="100000"/>
                  </a:lnSpc>
                </a:pPr>
                <a:r>
                  <a:rPr lang="en-US" altLang="zh-CN" sz="1600" dirty="0">
                    <a:solidFill>
                      <a:srgbClr val="262626"/>
                    </a:solidFill>
                    <a:latin typeface="华文中宋" panose="02010600040101010101" pitchFamily="2" charset="-122"/>
                    <a:ea typeface="华文中宋" panose="02010600040101010101" pitchFamily="2" charset="-122"/>
                  </a:rPr>
                  <a:t>使用Process Explorer可见该恶意代码创建了一个名为`WinVMX32`的互斥量，并复制自身到`C:\Windows\System32\vmx32to64.exe`，并安装自己到系统自启动项中，通过创建注册表键值`HKLMSOFTWAREMicrosoft\Windows\CurrentVersion\Run\VideoDriver`，并将其设置为复制副本的位置。</a:t>
                </a:r>
                <a:endParaRPr lang="en-US" altLang="zh-CN" sz="1600" dirty="0">
                  <a:solidFill>
                    <a:srgbClr val="262626"/>
                  </a:solidFill>
                  <a:latin typeface="华文中宋" panose="02010600040101010101" pitchFamily="2" charset="-122"/>
                  <a:ea typeface="华文中宋" panose="02010600040101010101" pitchFamily="2"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cxnSp>
          <p:nvCxnSpPr>
            <p:cNvPr id="54" name="直接连接符 53"/>
            <p:cNvCxnSpPr/>
            <p:nvPr>
              <p:custDataLst>
                <p:tags r:id="rId4"/>
              </p:custDataLst>
            </p:nvPr>
          </p:nvCxnSpPr>
          <p:spPr>
            <a:xfrm>
              <a:off x="3629612" y="2441543"/>
              <a:ext cx="6984000" cy="0"/>
            </a:xfrm>
            <a:prstGeom prst="line">
              <a:avLst/>
            </a:prstGeom>
            <a:ln>
              <a:solidFill>
                <a:srgbClr val="EFE6E1"/>
              </a:solidFill>
              <a:prstDash val="lgDash"/>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custDataLst>
              <p:tags r:id="rId5"/>
            </p:custDataLst>
          </p:nvPr>
        </p:nvGrpSpPr>
        <p:grpSpPr>
          <a:xfrm>
            <a:off x="3649932" y="2723952"/>
            <a:ext cx="8400415" cy="1230630"/>
            <a:chOff x="3649932" y="2723952"/>
            <a:chExt cx="8400415" cy="1230630"/>
          </a:xfrm>
        </p:grpSpPr>
        <p:sp>
          <p:nvSpPr>
            <p:cNvPr id="37" name="1111"/>
            <p:cNvSpPr txBox="1"/>
            <p:nvPr>
              <p:custDataLst>
                <p:tags r:id="rId6"/>
              </p:custDataLst>
            </p:nvPr>
          </p:nvSpPr>
          <p:spPr>
            <a:xfrm>
              <a:off x="3649932" y="2723952"/>
              <a:ext cx="8400415" cy="1230630"/>
            </a:xfrm>
            <a:prstGeom prst="rect">
              <a:avLst/>
            </a:prstGeom>
            <a:noFill/>
            <a:ln w="9525">
              <a:noFill/>
            </a:ln>
          </p:spPr>
          <p:txBody>
            <a:bodyPr wrap="square" tIns="36195" bIns="36195" anchor="t">
              <a:noAutofit/>
            </a:bodyPr>
            <a:lstStyle/>
            <a:p>
              <a:pPr algn="just">
                <a:lnSpc>
                  <a:spcPct val="11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默认情况下，恶意代码将安装为IPRIP服务，显示的服务名称为IntranetNetworkAwareness(INA+)，它将自身持久地安装在注册表中`HKLM\SYSTEM CurrentControlSet Services IPRIP\Parameters\ServiceDll:%CurrentDirectory%Labe3-02.dll`。</a:t>
              </a:r>
              <a:endPar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cxnSp>
          <p:nvCxnSpPr>
            <p:cNvPr id="55" name="直接连接符 54"/>
            <p:cNvCxnSpPr/>
            <p:nvPr>
              <p:custDataLst>
                <p:tags r:id="rId7"/>
              </p:custDataLst>
            </p:nvPr>
          </p:nvCxnSpPr>
          <p:spPr>
            <a:xfrm>
              <a:off x="3766137" y="3806825"/>
              <a:ext cx="6984000" cy="0"/>
            </a:xfrm>
            <a:prstGeom prst="line">
              <a:avLst/>
            </a:prstGeom>
            <a:ln>
              <a:solidFill>
                <a:srgbClr val="EFE6E1"/>
              </a:solidFill>
              <a:prstDash val="lgDash"/>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custDataLst>
              <p:tags r:id="rId8"/>
            </p:custDataLst>
          </p:nvPr>
        </p:nvGrpSpPr>
        <p:grpSpPr>
          <a:xfrm>
            <a:off x="3644899" y="3776415"/>
            <a:ext cx="7891145" cy="1372235"/>
            <a:chOff x="3644899" y="3776415"/>
            <a:chExt cx="7891145" cy="1372235"/>
          </a:xfrm>
        </p:grpSpPr>
        <p:grpSp>
          <p:nvGrpSpPr>
            <p:cNvPr id="38" name="组合 37"/>
            <p:cNvGrpSpPr/>
            <p:nvPr/>
          </p:nvGrpSpPr>
          <p:grpSpPr>
            <a:xfrm>
              <a:off x="3644899" y="3776415"/>
              <a:ext cx="7891145" cy="1372235"/>
              <a:chOff x="1550" y="3862"/>
              <a:chExt cx="12427" cy="2161"/>
            </a:xfrm>
          </p:grpSpPr>
          <p:sp>
            <p:nvSpPr>
              <p:cNvPr id="39" name="333333"/>
              <p:cNvSpPr txBox="1"/>
              <p:nvPr>
                <p:custDataLst>
                  <p:tags r:id="rId9"/>
                </p:custDataLst>
              </p:nvPr>
            </p:nvSpPr>
            <p:spPr>
              <a:xfrm>
                <a:off x="1567" y="3862"/>
                <a:ext cx="3546" cy="580"/>
              </a:xfrm>
              <a:prstGeom prst="rect">
                <a:avLst/>
              </a:prstGeom>
              <a:noFill/>
              <a:ln w="9525">
                <a:noFill/>
              </a:ln>
            </p:spPr>
            <p:txBody>
              <a:bodyPr wrap="square" anchor="t">
                <a:spAutoFit/>
              </a:bodyPr>
              <a:lstStyle/>
              <a:p>
                <a:pPr algn="l"/>
                <a:r>
                  <a:rPr lang="zh-CN" altLang="en-US" b="1" dirty="0">
                    <a:latin typeface="华文中宋" panose="02010600040101010101" pitchFamily="2" charset="-122"/>
                    <a:ea typeface="华文中宋" panose="02010600040101010101" pitchFamily="2" charset="-122"/>
                  </a:rPr>
                  <a:t>孤儿</a:t>
                </a:r>
                <a:r>
                  <a:rPr lang="zh-CN" altLang="en-US" b="1" dirty="0">
                    <a:latin typeface="华文中宋" panose="02010600040101010101" pitchFamily="2" charset="-122"/>
                    <a:ea typeface="华文中宋" panose="02010600040101010101" pitchFamily="2" charset="-122"/>
                  </a:rPr>
                  <a:t>进程</a:t>
                </a:r>
                <a:endParaRPr lang="zh-CN" altLang="en-US" b="1" dirty="0">
                  <a:latin typeface="华文中宋" panose="02010600040101010101" pitchFamily="2" charset="-122"/>
                  <a:ea typeface="华文中宋" panose="02010600040101010101" pitchFamily="2" charset="-122"/>
                </a:endParaRPr>
              </a:p>
            </p:txBody>
          </p:sp>
          <p:sp>
            <p:nvSpPr>
              <p:cNvPr id="40" name="1111"/>
              <p:cNvSpPr txBox="1"/>
              <p:nvPr>
                <p:custDataLst>
                  <p:tags r:id="rId10"/>
                </p:custDataLst>
              </p:nvPr>
            </p:nvSpPr>
            <p:spPr>
              <a:xfrm>
                <a:off x="1550" y="4358"/>
                <a:ext cx="12427" cy="1665"/>
              </a:xfrm>
              <a:prstGeom prst="rect">
                <a:avLst/>
              </a:prstGeom>
              <a:noFill/>
              <a:ln w="9525">
                <a:noFill/>
              </a:ln>
            </p:spPr>
            <p:txBody>
              <a:bodyPr wrap="square" tIns="36195" bIns="36195" anchor="t">
                <a:spAutoFit/>
              </a:bodyPr>
              <a:lstStyle/>
              <a:p>
                <a:pPr algn="just">
                  <a:lnSpc>
                    <a:spcPct val="10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恶意代码文件运行时创建了一个子进程，接着结束掉自己的进程，留下了之前创建的子进程独立运行，执行了对svchost.exe 文件的替换。</a:t>
                </a:r>
                <a:endPar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a:p>
                <a:pPr algn="just">
                  <a:lnSpc>
                    <a:spcPct val="10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这个程序在 `svchost.exe` 进程上执行了进程替换，来启动一个击键记录器，将键盘键入的信息记录在了`practicalmalwareanalysis.log`文件中。</a:t>
                </a:r>
                <a:endPar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cxnSp>
          <p:nvCxnSpPr>
            <p:cNvPr id="56" name="直接连接符 55"/>
            <p:cNvCxnSpPr/>
            <p:nvPr>
              <p:custDataLst>
                <p:tags r:id="rId11"/>
              </p:custDataLst>
            </p:nvPr>
          </p:nvCxnSpPr>
          <p:spPr>
            <a:xfrm>
              <a:off x="3766185" y="5124087"/>
              <a:ext cx="6984000" cy="0"/>
            </a:xfrm>
            <a:prstGeom prst="line">
              <a:avLst/>
            </a:prstGeom>
            <a:ln>
              <a:solidFill>
                <a:srgbClr val="EFE6E1"/>
              </a:solidFill>
              <a:prstDash val="lgDash"/>
            </a:ln>
          </p:spPr>
          <p:style>
            <a:lnRef idx="1">
              <a:schemeClr val="accent1"/>
            </a:lnRef>
            <a:fillRef idx="0">
              <a:schemeClr val="accent1"/>
            </a:fillRef>
            <a:effectRef idx="0">
              <a:schemeClr val="accent1"/>
            </a:effectRef>
            <a:fontRef idx="minor">
              <a:schemeClr val="tx1"/>
            </a:fontRef>
          </p:style>
        </p:cxnSp>
      </p:grpSp>
      <p:sp>
        <p:nvSpPr>
          <p:cNvPr id="5" name="文本框 4"/>
          <p:cNvSpPr txBox="1"/>
          <p:nvPr/>
        </p:nvSpPr>
        <p:spPr>
          <a:xfrm>
            <a:off x="1720850" y="1587500"/>
            <a:ext cx="860425" cy="364490"/>
          </a:xfrm>
          <a:prstGeom prst="rect">
            <a:avLst/>
          </a:prstGeom>
          <a:noFill/>
        </p:spPr>
        <p:txBody>
          <a:bodyPr wrap="square" rtlCol="0" anchor="t">
            <a:noAutofit/>
          </a:bodyPr>
          <a:p>
            <a:pPr marL="0" marR="0" lvl="0" indent="0" algn="ctr" defTabSz="914400" rtl="0" eaLnBrk="1" fontAlgn="auto" latinLnBrk="0" hangingPunct="1">
              <a:lnSpc>
                <a:spcPts val="2280"/>
              </a:lnSpc>
              <a:spcBef>
                <a:spcPts val="0"/>
              </a:spcBef>
              <a:spcAft>
                <a:spcPts val="0"/>
              </a:spcAft>
              <a:buClrTx/>
              <a:buSzTx/>
              <a:buFontTx/>
              <a:buNone/>
              <a:defRPr/>
            </a:pPr>
            <a:r>
              <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rPr>
              <a:t>01</a:t>
            </a:r>
            <a:endPar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720850" y="2949575"/>
            <a:ext cx="860425" cy="364490"/>
          </a:xfrm>
          <a:prstGeom prst="rect">
            <a:avLst/>
          </a:prstGeom>
          <a:noFill/>
        </p:spPr>
        <p:txBody>
          <a:bodyPr wrap="square" rtlCol="0" anchor="t">
            <a:noAutofit/>
          </a:bodyPr>
          <a:p>
            <a:pPr marL="0" marR="0" lvl="0" indent="0" algn="ctr" defTabSz="914400" rtl="0" eaLnBrk="1" fontAlgn="auto" latinLnBrk="0" hangingPunct="1">
              <a:lnSpc>
                <a:spcPts val="2280"/>
              </a:lnSpc>
              <a:spcBef>
                <a:spcPts val="0"/>
              </a:spcBef>
              <a:spcAft>
                <a:spcPts val="0"/>
              </a:spcAft>
              <a:buClrTx/>
              <a:buSzTx/>
              <a:buFontTx/>
              <a:buNone/>
              <a:defRPr/>
            </a:pPr>
            <a:r>
              <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rPr>
              <a:t>02</a:t>
            </a:r>
            <a:endPar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720850" y="4311650"/>
            <a:ext cx="860425" cy="364490"/>
          </a:xfrm>
          <a:prstGeom prst="rect">
            <a:avLst/>
          </a:prstGeom>
          <a:noFill/>
        </p:spPr>
        <p:txBody>
          <a:bodyPr wrap="square" rtlCol="0" anchor="t">
            <a:noAutofit/>
          </a:bodyPr>
          <a:p>
            <a:pPr marL="0" marR="0" lvl="0" indent="0" algn="ctr" defTabSz="914400" rtl="0" eaLnBrk="1" fontAlgn="auto" latinLnBrk="0" hangingPunct="1">
              <a:lnSpc>
                <a:spcPts val="2280"/>
              </a:lnSpc>
              <a:spcBef>
                <a:spcPts val="0"/>
              </a:spcBef>
              <a:spcAft>
                <a:spcPts val="0"/>
              </a:spcAft>
              <a:buClrTx/>
              <a:buSzTx/>
              <a:buFontTx/>
              <a:buNone/>
              <a:defRPr/>
            </a:pPr>
            <a:r>
              <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rPr>
              <a:t>03</a:t>
            </a:r>
            <a:endPar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720850" y="5721350"/>
            <a:ext cx="860425" cy="364490"/>
          </a:xfrm>
          <a:prstGeom prst="rect">
            <a:avLst/>
          </a:prstGeom>
          <a:noFill/>
        </p:spPr>
        <p:txBody>
          <a:bodyPr wrap="square" rtlCol="0" anchor="t">
            <a:noAutofit/>
          </a:bodyPr>
          <a:p>
            <a:pPr marL="0" marR="0" lvl="0" indent="0" algn="ctr" defTabSz="914400" rtl="0" eaLnBrk="1" fontAlgn="auto" latinLnBrk="0" hangingPunct="1">
              <a:lnSpc>
                <a:spcPts val="2280"/>
              </a:lnSpc>
              <a:spcBef>
                <a:spcPts val="0"/>
              </a:spcBef>
              <a:spcAft>
                <a:spcPts val="0"/>
              </a:spcAft>
              <a:buClrTx/>
              <a:buSzTx/>
              <a:buFontTx/>
              <a:buNone/>
              <a:defRPr/>
            </a:pPr>
            <a:r>
              <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rPr>
              <a:t>04</a:t>
            </a:r>
            <a:endParaRPr lang="en-US" altLang="zh-CN" sz="2400" b="1" noProof="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12" name="333333"/>
          <p:cNvSpPr txBox="1"/>
          <p:nvPr>
            <p:custDataLst>
              <p:tags r:id="rId12"/>
            </p:custDataLst>
          </p:nvPr>
        </p:nvSpPr>
        <p:spPr>
          <a:xfrm>
            <a:off x="3655694" y="2468315"/>
            <a:ext cx="2251710" cy="368300"/>
          </a:xfrm>
          <a:prstGeom prst="rect">
            <a:avLst/>
          </a:prstGeom>
          <a:noFill/>
          <a:ln w="9525">
            <a:noFill/>
          </a:ln>
        </p:spPr>
        <p:txBody>
          <a:bodyPr wrap="square" anchor="t">
            <a:spAutoFit/>
          </a:bodyPr>
          <a:p>
            <a:pPr algn="l"/>
            <a:r>
              <a:rPr lang="zh-CN" altLang="en-US" b="1" dirty="0">
                <a:latin typeface="华文中宋" panose="02010600040101010101" pitchFamily="2" charset="-122"/>
                <a:ea typeface="华文中宋" panose="02010600040101010101" pitchFamily="2" charset="-122"/>
              </a:rPr>
              <a:t>安装为</a:t>
            </a:r>
            <a:r>
              <a:rPr lang="zh-CN" altLang="en-US" b="1" dirty="0">
                <a:latin typeface="华文中宋" panose="02010600040101010101" pitchFamily="2" charset="-122"/>
                <a:ea typeface="华文中宋" panose="02010600040101010101" pitchFamily="2" charset="-122"/>
              </a:rPr>
              <a:t>服务</a:t>
            </a:r>
            <a:endParaRPr lang="zh-CN" altLang="en-US" b="1" dirty="0">
              <a:latin typeface="华文中宋" panose="02010600040101010101" pitchFamily="2" charset="-122"/>
              <a:ea typeface="华文中宋" panose="02010600040101010101" pitchFamily="2" charset="-122"/>
            </a:endParaRPr>
          </a:p>
        </p:txBody>
      </p:sp>
      <p:grpSp>
        <p:nvGrpSpPr>
          <p:cNvPr id="15" name="组合 14"/>
          <p:cNvGrpSpPr/>
          <p:nvPr/>
        </p:nvGrpSpPr>
        <p:grpSpPr>
          <a:xfrm rot="0">
            <a:off x="3655695" y="5433060"/>
            <a:ext cx="7891145" cy="915670"/>
            <a:chOff x="1367" y="5791"/>
            <a:chExt cx="12427" cy="1442"/>
          </a:xfrm>
        </p:grpSpPr>
        <p:sp>
          <p:nvSpPr>
            <p:cNvPr id="16" name="333333"/>
            <p:cNvSpPr txBox="1"/>
            <p:nvPr>
              <p:custDataLst>
                <p:tags r:id="rId13"/>
              </p:custDataLst>
            </p:nvPr>
          </p:nvSpPr>
          <p:spPr>
            <a:xfrm>
              <a:off x="1367" y="5791"/>
              <a:ext cx="3546" cy="580"/>
            </a:xfrm>
            <a:prstGeom prst="rect">
              <a:avLst/>
            </a:prstGeom>
            <a:noFill/>
            <a:ln w="9525">
              <a:noFill/>
            </a:ln>
          </p:spPr>
          <p:txBody>
            <a:bodyPr wrap="square" anchor="t">
              <a:spAutoFit/>
            </a:bodyPr>
            <a:p>
              <a:pPr algn="l"/>
              <a:r>
                <a:rPr lang="zh-CN" altLang="en-US" b="1" dirty="0">
                  <a:latin typeface="华文中宋" panose="02010600040101010101" pitchFamily="2" charset="-122"/>
                  <a:ea typeface="华文中宋" panose="02010600040101010101" pitchFamily="2" charset="-122"/>
                </a:rPr>
                <a:t>暂时</a:t>
              </a:r>
              <a:r>
                <a:rPr lang="zh-CN" altLang="en-US" b="1" dirty="0">
                  <a:latin typeface="华文中宋" panose="02010600040101010101" pitchFamily="2" charset="-122"/>
                  <a:ea typeface="华文中宋" panose="02010600040101010101" pitchFamily="2" charset="-122"/>
                </a:rPr>
                <a:t>无法分析</a:t>
              </a:r>
              <a:endParaRPr lang="zh-CN" altLang="en-US" b="1" dirty="0">
                <a:latin typeface="华文中宋" panose="02010600040101010101" pitchFamily="2" charset="-122"/>
                <a:ea typeface="华文中宋" panose="02010600040101010101" pitchFamily="2" charset="-122"/>
              </a:endParaRPr>
            </a:p>
          </p:txBody>
        </p:sp>
        <p:sp>
          <p:nvSpPr>
            <p:cNvPr id="17" name="1111"/>
            <p:cNvSpPr txBox="1"/>
            <p:nvPr>
              <p:custDataLst>
                <p:tags r:id="rId14"/>
              </p:custDataLst>
            </p:nvPr>
          </p:nvSpPr>
          <p:spPr>
            <a:xfrm>
              <a:off x="1367" y="6344"/>
              <a:ext cx="12427" cy="889"/>
            </a:xfrm>
            <a:prstGeom prst="rect">
              <a:avLst/>
            </a:prstGeom>
            <a:noFill/>
            <a:ln w="9525">
              <a:noFill/>
            </a:ln>
          </p:spPr>
          <p:txBody>
            <a:bodyPr wrap="square" tIns="36195" bIns="36195" anchor="t">
              <a:spAutoFit/>
            </a:bodyPr>
            <a:p>
              <a:pPr algn="just">
                <a:lnSpc>
                  <a:spcPct val="100000"/>
                </a:lnSpc>
              </a:pPr>
              <a:r>
                <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当运行这个恶意代码时，程序会立即将自身删除掉，根据ProcessExplorer的进程变化，只看到了一个cmd进程，后迅速消失。</a:t>
              </a:r>
              <a:endParaRPr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757873" y="1539286"/>
            <a:ext cx="3546475" cy="1908369"/>
            <a:chOff x="1478" y="3983"/>
            <a:chExt cx="5585" cy="3005"/>
          </a:xfrm>
        </p:grpSpPr>
        <p:sp>
          <p:nvSpPr>
            <p:cNvPr id="10263" name="333333"/>
            <p:cNvSpPr txBox="1"/>
            <p:nvPr/>
          </p:nvSpPr>
          <p:spPr>
            <a:xfrm>
              <a:off x="3131" y="3983"/>
              <a:ext cx="3932" cy="519"/>
            </a:xfrm>
            <a:prstGeom prst="rect">
              <a:avLst/>
            </a:prstGeom>
            <a:noFill/>
            <a:ln w="9525">
              <a:noFill/>
            </a:ln>
          </p:spPr>
          <p:txBody>
            <a:bodyPr wrap="square" anchor="t">
              <a:no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恶意代码的</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多样性</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41" name="1111"/>
            <p:cNvSpPr txBox="1"/>
            <p:nvPr/>
          </p:nvSpPr>
          <p:spPr>
            <a:xfrm>
              <a:off x="1478" y="4518"/>
              <a:ext cx="5350" cy="2470"/>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恶意代码有各种各样的隐藏技术以及在主机上的不同感染迹象特征的差异。整体思路不变，但要有判断</a:t>
              </a:r>
              <a:r>
                <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xxx</a:t>
              </a: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是恶意代码特征的</a:t>
              </a: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能力。</a:t>
              </a:r>
              <a:endPar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sp>
        <p:nvSpPr>
          <p:cNvPr id="14" name="文本框 13"/>
          <p:cNvSpPr txBox="1"/>
          <p:nvPr/>
        </p:nvSpPr>
        <p:spPr>
          <a:xfrm>
            <a:off x="4697095" y="390751"/>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心得体会</a:t>
            </a:r>
            <a:endParaRPr lang="en-US" altLang="zh-CN"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433565" y="4157023"/>
            <a:ext cx="3252470" cy="1891858"/>
            <a:chOff x="1478" y="4009"/>
            <a:chExt cx="5122" cy="2979"/>
          </a:xfrm>
        </p:grpSpPr>
        <p:sp>
          <p:nvSpPr>
            <p:cNvPr id="21" name="333333"/>
            <p:cNvSpPr txBox="1"/>
            <p:nvPr/>
          </p:nvSpPr>
          <p:spPr>
            <a:xfrm>
              <a:off x="1727" y="4009"/>
              <a:ext cx="4873" cy="580"/>
            </a:xfrm>
            <a:prstGeom prst="rect">
              <a:avLst/>
            </a:prstGeom>
            <a:noFill/>
            <a:ln w="9525">
              <a:noFill/>
            </a:ln>
          </p:spPr>
          <p:txBody>
            <a:bodyPr wrap="square" anchor="t">
              <a:no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更深入了解动态分析</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工具</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2" name="1111"/>
            <p:cNvSpPr txBox="1"/>
            <p:nvPr/>
          </p:nvSpPr>
          <p:spPr>
            <a:xfrm>
              <a:off x="1478" y="4518"/>
              <a:ext cx="4983" cy="2470"/>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对于动态分析工具作用以及其使用场景有了更深的体验。比如需要在程序运行时监测的或者设置虚拟网络之后进行的</a:t>
              </a:r>
              <a:r>
                <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a:t>
              </a:r>
              <a:endPar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grpSp>
        <p:nvGrpSpPr>
          <p:cNvPr id="23" name="组合 22"/>
          <p:cNvGrpSpPr/>
          <p:nvPr/>
        </p:nvGrpSpPr>
        <p:grpSpPr>
          <a:xfrm>
            <a:off x="7600050" y="1146610"/>
            <a:ext cx="3173095" cy="2333863"/>
            <a:chOff x="1305" y="3883"/>
            <a:chExt cx="4997" cy="3675"/>
          </a:xfrm>
        </p:grpSpPr>
        <p:sp>
          <p:nvSpPr>
            <p:cNvPr id="24" name="333333"/>
            <p:cNvSpPr txBox="1"/>
            <p:nvPr/>
          </p:nvSpPr>
          <p:spPr>
            <a:xfrm>
              <a:off x="1305" y="3883"/>
              <a:ext cx="4722"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动态分析的</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优势</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5" name="1111"/>
            <p:cNvSpPr txBox="1"/>
            <p:nvPr/>
          </p:nvSpPr>
          <p:spPr>
            <a:xfrm>
              <a:off x="1319" y="4506"/>
              <a:ext cx="4983" cy="3052"/>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实时行为监测，有更高的检出率（比如一些加壳代码静态分析</a:t>
              </a: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无法解决）；通过在隔离环境中执行恶意代码，动态分析能够捕获真实的恶意活动和攻击链。</a:t>
              </a:r>
              <a:endPar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grpSp>
        <p:nvGrpSpPr>
          <p:cNvPr id="26" name="组合 25"/>
          <p:cNvGrpSpPr/>
          <p:nvPr/>
        </p:nvGrpSpPr>
        <p:grpSpPr>
          <a:xfrm>
            <a:off x="8105140" y="3779520"/>
            <a:ext cx="3164205" cy="1970606"/>
            <a:chOff x="1478" y="3885"/>
            <a:chExt cx="4983" cy="3103"/>
          </a:xfrm>
        </p:grpSpPr>
        <p:sp>
          <p:nvSpPr>
            <p:cNvPr id="27" name="333333"/>
            <p:cNvSpPr txBox="1"/>
            <p:nvPr/>
          </p:nvSpPr>
          <p:spPr>
            <a:xfrm>
              <a:off x="1478" y="3885"/>
              <a:ext cx="3366"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现无法解决的</a:t>
              </a:r>
              <a:r>
                <a:rPr lang="zh-CN" altLang="en-US" b="1" dirty="0">
                  <a:solidFill>
                    <a:schemeClr val="tx1">
                      <a:lumMod val="75000"/>
                      <a:lumOff val="25000"/>
                    </a:schemeClr>
                  </a:solidFill>
                  <a:latin typeface="华文中宋" panose="02010600040101010101" pitchFamily="2" charset="-122"/>
                  <a:ea typeface="华文中宋" panose="02010600040101010101" pitchFamily="2" charset="-122"/>
                </a:rPr>
                <a:t>问题</a:t>
              </a:r>
              <a:endParaRPr lang="zh-CN" altLang="en-US" b="1"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8" name="1111"/>
            <p:cNvSpPr txBox="1"/>
            <p:nvPr/>
          </p:nvSpPr>
          <p:spPr>
            <a:xfrm>
              <a:off x="1478" y="4518"/>
              <a:ext cx="4983" cy="2470"/>
            </a:xfrm>
            <a:prstGeom prst="rect">
              <a:avLst/>
            </a:prstGeom>
            <a:noFill/>
            <a:ln w="9525">
              <a:noFill/>
            </a:ln>
          </p:spPr>
          <p:txBody>
            <a:bodyPr wrap="square" anchor="t">
              <a:spAutoFit/>
            </a:bodyPr>
            <a:lstStyle/>
            <a:p>
              <a:pPr algn="just">
                <a:lnSpc>
                  <a:spcPct val="150000"/>
                </a:lnSpc>
              </a:pP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对于一些反动态分析技术，比如实现反调试或反虚拟机技术，导致常规的动态分析工具无法有效捕获其行为。例如</a:t>
              </a:r>
              <a:r>
                <a:rPr lang="en-US" altLang="zh-CN"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lab03-04.exe</a:t>
              </a:r>
              <a:r>
                <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rPr>
                <a:t>。</a:t>
              </a:r>
              <a:endParaRPr lang="zh-CN" altLang="en-US" sz="1600" dirty="0">
                <a:solidFill>
                  <a:srgbClr val="262626"/>
                </a:solidFill>
                <a:latin typeface="华文中宋" panose="02010600040101010101" pitchFamily="2" charset="-122"/>
                <a:ea typeface="华文中宋" panose="02010600040101010101" pitchFamily="2" charset="-122"/>
                <a:sym typeface="微软雅黑" panose="020B0503020204020204" pitchFamily="34" charset="-122"/>
              </a:endParaRPr>
            </a:p>
          </p:txBody>
        </p:sp>
      </p:grpSp>
      <p:grpSp>
        <p:nvGrpSpPr>
          <p:cNvPr id="5" name="组合 4"/>
          <p:cNvGrpSpPr/>
          <p:nvPr/>
        </p:nvGrpSpPr>
        <p:grpSpPr>
          <a:xfrm>
            <a:off x="4216400" y="1982470"/>
            <a:ext cx="3756660" cy="4702810"/>
            <a:chOff x="6640" y="3122"/>
            <a:chExt cx="5916" cy="7406"/>
          </a:xfrm>
        </p:grpSpPr>
        <p:grpSp>
          <p:nvGrpSpPr>
            <p:cNvPr id="4" name="组合 3"/>
            <p:cNvGrpSpPr/>
            <p:nvPr/>
          </p:nvGrpSpPr>
          <p:grpSpPr>
            <a:xfrm>
              <a:off x="7975" y="8620"/>
              <a:ext cx="3247" cy="1908"/>
              <a:chOff x="7975" y="8620"/>
              <a:chExt cx="3247" cy="1908"/>
            </a:xfrm>
          </p:grpSpPr>
          <p:sp>
            <p:nvSpPr>
              <p:cNvPr id="2" name="菱形 1"/>
              <p:cNvSpPr/>
              <p:nvPr/>
            </p:nvSpPr>
            <p:spPr>
              <a:xfrm>
                <a:off x="8527" y="8620"/>
                <a:ext cx="2143" cy="593"/>
              </a:xfrm>
              <a:prstGeom prst="diamond">
                <a:avLst/>
              </a:prstGeom>
              <a:solidFill>
                <a:srgbClr val="701E5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8525" y="8922"/>
                <a:ext cx="2145" cy="1606"/>
                <a:chOff x="8525" y="8922"/>
                <a:chExt cx="2145" cy="1606"/>
              </a:xfrm>
            </p:grpSpPr>
            <p:sp>
              <p:nvSpPr>
                <p:cNvPr id="30" name="椭圆 29"/>
                <p:cNvSpPr/>
                <p:nvPr/>
              </p:nvSpPr>
              <p:spPr>
                <a:xfrm>
                  <a:off x="8525" y="9692"/>
                  <a:ext cx="2144" cy="837"/>
                </a:xfrm>
                <a:prstGeom prst="ellipse">
                  <a:avLst/>
                </a:prstGeom>
                <a:gradFill>
                  <a:gsLst>
                    <a:gs pos="0">
                      <a:schemeClr val="bg1">
                        <a:lumMod val="50000"/>
                      </a:schemeClr>
                    </a:gs>
                    <a:gs pos="100000">
                      <a:schemeClr val="bg1">
                        <a:lumMod val="9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6200000">
                  <a:off x="8332" y="9117"/>
                  <a:ext cx="1463" cy="1072"/>
                </a:xfrm>
                <a:prstGeom prst="parallelogram">
                  <a:avLst>
                    <a:gd name="adj" fmla="val 27747"/>
                  </a:avLst>
                </a:prstGeom>
                <a:solidFill>
                  <a:srgbClr val="A2508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rot="180000">
                  <a:off x="8586" y="9925"/>
                  <a:ext cx="954" cy="362"/>
                </a:xfrm>
                <a:prstGeom prst="rect">
                  <a:avLst/>
                </a:prstGeom>
                <a:noFill/>
              </p:spPr>
              <p:txBody>
                <a:bodyPr wrap="none" rtlCol="0">
                  <a:prstTxWarp prst="textSlantDown">
                    <a:avLst/>
                  </a:prstTxWarp>
                  <a:spAutoFit/>
                </a:bodyPr>
                <a:lstStyle/>
                <a:p>
                  <a:pPr algn="dist"/>
                  <a:r>
                    <a:rPr lang="en-US" altLang="zh-CN" sz="700">
                      <a:solidFill>
                        <a:schemeClr val="bg1">
                          <a:alpha val="50000"/>
                        </a:schemeClr>
                      </a:solidFill>
                      <a:latin typeface="微软雅黑 Light" panose="020B0502040204020203" charset="-122"/>
                      <a:ea typeface="微软雅黑 Light" panose="020B0502040204020203" charset="-122"/>
                    </a:rPr>
                    <a:t>NANKAI</a:t>
                  </a:r>
                  <a:endParaRPr lang="en-US" altLang="zh-CN" sz="700">
                    <a:solidFill>
                      <a:schemeClr val="bg1">
                        <a:alpha val="50000"/>
                      </a:schemeClr>
                    </a:solidFill>
                    <a:latin typeface="微软雅黑 Light" panose="020B0502040204020203" charset="-122"/>
                    <a:ea typeface="微软雅黑 Light" panose="020B0502040204020203" charset="-122"/>
                  </a:endParaRPr>
                </a:p>
              </p:txBody>
            </p:sp>
            <p:sp>
              <p:nvSpPr>
                <p:cNvPr id="9" name="平行四边形 8"/>
                <p:cNvSpPr/>
                <p:nvPr/>
              </p:nvSpPr>
              <p:spPr>
                <a:xfrm rot="5400000" flipH="1">
                  <a:off x="9403" y="9118"/>
                  <a:ext cx="1463" cy="1072"/>
                </a:xfrm>
                <a:prstGeom prst="parallelogram">
                  <a:avLst>
                    <a:gd name="adj" fmla="val 27747"/>
                  </a:avLst>
                </a:prstGeom>
                <a:solidFill>
                  <a:srgbClr val="A2508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rot="21360000">
                  <a:off x="9629" y="9935"/>
                  <a:ext cx="1011" cy="351"/>
                </a:xfrm>
                <a:prstGeom prst="rect">
                  <a:avLst/>
                </a:prstGeom>
                <a:noFill/>
              </p:spPr>
              <p:txBody>
                <a:bodyPr wrap="square" lIns="0" tIns="0" rIns="0" bIns="0" rtlCol="0">
                  <a:prstTxWarp prst="textSlantUp">
                    <a:avLst>
                      <a:gd name="adj" fmla="val 49572"/>
                    </a:avLst>
                  </a:prstTxWarp>
                  <a:spAutoFit/>
                </a:bodyPr>
                <a:lstStyle/>
                <a:p>
                  <a:pPr algn="ctr"/>
                  <a:r>
                    <a:rPr lang="en-US" altLang="zh-CN" sz="700">
                      <a:solidFill>
                        <a:schemeClr val="bg1">
                          <a:alpha val="50000"/>
                        </a:schemeClr>
                      </a:solidFill>
                      <a:latin typeface="微软雅黑 Light" panose="020B0502040204020203" charset="-122"/>
                      <a:ea typeface="微软雅黑 Light" panose="020B0502040204020203" charset="-122"/>
                    </a:rPr>
                    <a:t>UNIVERSITY</a:t>
                  </a:r>
                  <a:endParaRPr lang="en-US" altLang="zh-CN" sz="700">
                    <a:solidFill>
                      <a:schemeClr val="bg1">
                        <a:alpha val="50000"/>
                      </a:schemeClr>
                    </a:solidFill>
                    <a:latin typeface="微软雅黑 Light" panose="020B0502040204020203" charset="-122"/>
                    <a:ea typeface="微软雅黑 Light" panose="020B0502040204020203" charset="-122"/>
                  </a:endParaRPr>
                </a:p>
              </p:txBody>
            </p:sp>
          </p:grpSp>
          <p:sp>
            <p:nvSpPr>
              <p:cNvPr id="10" name="平行四边形 9"/>
              <p:cNvSpPr/>
              <p:nvPr/>
            </p:nvSpPr>
            <p:spPr>
              <a:xfrm rot="900000">
                <a:off x="7975" y="8997"/>
                <a:ext cx="1589" cy="479"/>
              </a:xfrm>
              <a:prstGeom prst="parallelogram">
                <a:avLst>
                  <a:gd name="adj" fmla="val 99146"/>
                </a:avLst>
              </a:prstGeom>
              <a:solidFill>
                <a:srgbClr val="B78E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b" anchorCtr="0"/>
              <a:lstStyle/>
              <a:p>
                <a:pPr algn="dist"/>
                <a:endParaRPr lang="en-US" altLang="zh-CN" sz="800">
                  <a:latin typeface="微软雅黑 Light" panose="020B0502040204020203" charset="-122"/>
                  <a:ea typeface="微软雅黑 Light" panose="020B0502040204020203" charset="-122"/>
                </a:endParaRPr>
              </a:p>
            </p:txBody>
          </p:sp>
          <p:sp>
            <p:nvSpPr>
              <p:cNvPr id="12" name="平行四边形 11"/>
              <p:cNvSpPr/>
              <p:nvPr/>
            </p:nvSpPr>
            <p:spPr>
              <a:xfrm rot="20700000" flipH="1">
                <a:off x="9634" y="8997"/>
                <a:ext cx="1589" cy="479"/>
              </a:xfrm>
              <a:prstGeom prst="parallelogram">
                <a:avLst>
                  <a:gd name="adj" fmla="val 99146"/>
                </a:avLst>
              </a:prstGeom>
              <a:solidFill>
                <a:srgbClr val="B78E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圆角右箭头 14"/>
            <p:cNvSpPr/>
            <p:nvPr/>
          </p:nvSpPr>
          <p:spPr>
            <a:xfrm>
              <a:off x="9580" y="3122"/>
              <a:ext cx="2131" cy="5660"/>
            </a:xfrm>
            <a:prstGeom prst="bentArrow">
              <a:avLst>
                <a:gd name="adj1" fmla="val 8399"/>
                <a:gd name="adj2" fmla="val 13033"/>
                <a:gd name="adj3" fmla="val 20027"/>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圆角右箭头 16"/>
            <p:cNvSpPr/>
            <p:nvPr/>
          </p:nvSpPr>
          <p:spPr>
            <a:xfrm flipH="1">
              <a:off x="6640" y="3920"/>
              <a:ext cx="2940" cy="5001"/>
            </a:xfrm>
            <a:prstGeom prst="bentArrow">
              <a:avLst>
                <a:gd name="adj1" fmla="val 6292"/>
                <a:gd name="adj2" fmla="val 10222"/>
                <a:gd name="adj3" fmla="val 17201"/>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圆角右箭头 15"/>
            <p:cNvSpPr/>
            <p:nvPr/>
          </p:nvSpPr>
          <p:spPr>
            <a:xfrm>
              <a:off x="9598" y="5901"/>
              <a:ext cx="2958" cy="2881"/>
            </a:xfrm>
            <a:prstGeom prst="bentArrow">
              <a:avLst>
                <a:gd name="adj1" fmla="val 7636"/>
                <a:gd name="adj2" fmla="val 13033"/>
                <a:gd name="adj3" fmla="val 20027"/>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圆角右箭头 17"/>
            <p:cNvSpPr/>
            <p:nvPr/>
          </p:nvSpPr>
          <p:spPr>
            <a:xfrm flipH="1">
              <a:off x="7449" y="6617"/>
              <a:ext cx="2148" cy="2305"/>
            </a:xfrm>
            <a:prstGeom prst="bentArrow">
              <a:avLst>
                <a:gd name="adj1" fmla="val 8752"/>
                <a:gd name="adj2" fmla="val 12536"/>
                <a:gd name="adj3" fmla="val 17201"/>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277475" y="1494790"/>
            <a:ext cx="994410" cy="2894330"/>
          </a:xfrm>
          <a:prstGeom prst="rect">
            <a:avLst/>
          </a:prstGeom>
          <a:solidFill>
            <a:srgbClr val="701E5E">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tIns="0" rtlCol="0" anchor="ctr"/>
          <a:lstStyle/>
          <a:p>
            <a:pPr algn="ctr">
              <a:lnSpc>
                <a:spcPct val="100000"/>
              </a:lnSpc>
            </a:pPr>
            <a:r>
              <a:rPr lang="zh-CN" altLang="en-US" sz="3000" kern="3000" spc="1000">
                <a:solidFill>
                  <a:schemeClr val="bg2"/>
                </a:solidFill>
                <a:uFillTx/>
                <a:latin typeface="微软雅黑 Light" panose="020B0502040204020203" charset="-122"/>
                <a:ea typeface="微软雅黑 Light" panose="020B0502040204020203" charset="-122"/>
              </a:rPr>
              <a:t>允公允能</a:t>
            </a:r>
            <a:endParaRPr lang="zh-CN" altLang="en-US" sz="3000" kern="3000" spc="1000">
              <a:solidFill>
                <a:schemeClr val="bg2"/>
              </a:solidFill>
              <a:uFillTx/>
              <a:latin typeface="微软雅黑 Light" panose="020B0502040204020203" charset="-122"/>
              <a:ea typeface="微软雅黑 Light" panose="020B0502040204020203" charset="-122"/>
            </a:endParaRPr>
          </a:p>
          <a:p>
            <a:pPr algn="ctr">
              <a:lnSpc>
                <a:spcPct val="100000"/>
              </a:lnSpc>
            </a:pPr>
            <a:r>
              <a:rPr lang="en-US" altLang="zh-CN" sz="3000" kern="3000" spc="1000">
                <a:solidFill>
                  <a:schemeClr val="bg2"/>
                </a:solidFill>
                <a:uFillTx/>
                <a:latin typeface="微软雅黑 Light" panose="020B0502040204020203" charset="-122"/>
                <a:ea typeface="微软雅黑 Light" panose="020B0502040204020203" charset="-122"/>
              </a:rPr>
              <a:t>   </a:t>
            </a:r>
            <a:r>
              <a:rPr lang="zh-CN" altLang="en-US" sz="3000" kern="3000" spc="1000">
                <a:solidFill>
                  <a:schemeClr val="bg2"/>
                </a:solidFill>
                <a:uFillTx/>
                <a:latin typeface="微软雅黑 Light" panose="020B0502040204020203" charset="-122"/>
                <a:ea typeface="微软雅黑 Light" panose="020B0502040204020203" charset="-122"/>
              </a:rPr>
              <a:t>日新月异</a:t>
            </a:r>
            <a:endParaRPr lang="zh-CN" altLang="en-US" sz="3000" kern="3000" spc="1000">
              <a:solidFill>
                <a:schemeClr val="bg2"/>
              </a:solidFill>
              <a:uFillTx/>
              <a:latin typeface="微软雅黑 Light" panose="020B0502040204020203" charset="-122"/>
              <a:ea typeface="微软雅黑 Light" panose="020B0502040204020203" charset="-122"/>
            </a:endParaRPr>
          </a:p>
        </p:txBody>
      </p:sp>
      <p:sp>
        <p:nvSpPr>
          <p:cNvPr id="7" name="文本框 6"/>
          <p:cNvSpPr txBox="1"/>
          <p:nvPr/>
        </p:nvSpPr>
        <p:spPr>
          <a:xfrm>
            <a:off x="3608070" y="570865"/>
            <a:ext cx="1198245" cy="5734685"/>
          </a:xfrm>
          <a:prstGeom prst="rect">
            <a:avLst/>
          </a:prstGeom>
          <a:noFill/>
          <a:extLst>
            <a:ext uri="{909E8E84-426E-40DD-AFC4-6F175D3DCCD1}">
              <a14:hiddenFill xmlns:a14="http://schemas.microsoft.com/office/drawing/2010/main">
                <a:solidFill>
                  <a:schemeClr val="bg1"/>
                </a:solidFill>
              </a14:hiddenFill>
            </a:ext>
          </a:extLst>
        </p:spPr>
        <p:txBody>
          <a:bodyPr vert="eaVert" wrap="square" rtlCol="0" anchor="ctr" anchorCtr="1">
            <a:spAutoFit/>
          </a:bodyPr>
          <a:lstStyle/>
          <a:p>
            <a:pPr algn="dist">
              <a:lnSpc>
                <a:spcPct val="100000"/>
              </a:lnSpc>
            </a:pPr>
            <a:r>
              <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谢谢大家</a:t>
            </a:r>
            <a:endPar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3042451" y="655320"/>
            <a:ext cx="442429" cy="2052000"/>
          </a:xfrm>
          <a:prstGeom prst="rect">
            <a:avLst/>
          </a:prstGeom>
          <a:solidFill>
            <a:schemeClr val="bg1"/>
          </a:solidFill>
        </p:spPr>
        <p:txBody>
          <a:bodyPr vert="eaVert" wrap="square" lIns="36195" rIns="36195" rtlCol="0">
            <a:spAutoFit/>
          </a:bodyPr>
          <a:lstStyle/>
          <a:p>
            <a:r>
              <a:rPr lang="en-US" altLang="zh-CN" sz="2400" b="1" dirty="0">
                <a:solidFill>
                  <a:srgbClr val="701E5E"/>
                </a:solidFill>
                <a:latin typeface="微软雅黑" panose="020B0503020204020204" pitchFamily="34" charset="-122"/>
                <a:ea typeface="微软雅黑" panose="020B0503020204020204" pitchFamily="34" charset="-122"/>
              </a:rPr>
              <a:t>THANK YOU</a:t>
            </a:r>
            <a:endParaRPr lang="en-US" altLang="zh-CN" sz="2400" b="1" dirty="0">
              <a:solidFill>
                <a:srgbClr val="701E5E"/>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459040" y="4714240"/>
            <a:ext cx="1013460" cy="1849120"/>
          </a:xfrm>
          <a:prstGeom prst="rect">
            <a:avLst/>
          </a:prstGeom>
          <a:noFill/>
        </p:spPr>
        <p:txBody>
          <a:bodyPr vert="eaVert" wrap="none" rtlCol="0">
            <a:spAutoFit/>
          </a:bodyPr>
          <a:lstStyle/>
          <a:p>
            <a:pPr algn="l">
              <a:lnSpc>
                <a:spcPct val="150000"/>
              </a:lnSpc>
            </a:pP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李佳璐</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日</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PLACING_PICTURE_USER_VIEWPORT" val="{&quot;height&quot;:10796,&quot;width&quot;:15203}"/>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PLACING_PICTURE_USER_VIEWPORT" val="{&quot;height&quot;:10796,&quot;width&quot;:12706}"/>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0.xml><?xml version="1.0" encoding="utf-8"?>
<p:tagLst xmlns:p="http://schemas.openxmlformats.org/presentationml/2006/main">
  <p:tag name="KSO_WM_DIAGRAM_VIRTUALLY_FRAME" val="{&quot;height&quot;:394.37440944881894,&quot;left&quot;:47.5,&quot;top&quot;:111.47496062992124,&quot;width&quot;:862.9949606299213}"/>
</p:tagLst>
</file>

<file path=ppt/tags/tag51.xml><?xml version="1.0" encoding="utf-8"?>
<p:tagLst xmlns:p="http://schemas.openxmlformats.org/presentationml/2006/main">
  <p:tag name="KSO_WM_DIAGRAM_VIRTUALLY_FRAME" val="{&quot;height&quot;:433.26574803149606,&quot;left&quot;:47.5,&quot;top&quot;:99.13118110236216,&quot;width&quot;:869.15}"/>
</p:tagLst>
</file>

<file path=ppt/tags/tag52.xml><?xml version="1.0" encoding="utf-8"?>
<p:tagLst xmlns:p="http://schemas.openxmlformats.org/presentationml/2006/main">
  <p:tag name="KSO_WM_DIAGRAM_VIRTUALLY_FRAME" val="{&quot;height&quot;:394.37440944881894,&quot;left&quot;:47.5,&quot;top&quot;:111.47496062992124,&quot;width&quot;:862.9949606299213}"/>
</p:tagLst>
</file>

<file path=ppt/tags/tag53.xml><?xml version="1.0" encoding="utf-8"?>
<p:tagLst xmlns:p="http://schemas.openxmlformats.org/presentationml/2006/main">
  <p:tag name="KSO_WM_DIAGRAM_VIRTUALLY_FRAME" val="{&quot;height&quot;:394.37440944881894,&quot;left&quot;:47.5,&quot;top&quot;:111.47496062992124,&quot;width&quot;:862.9949606299213}"/>
</p:tagLst>
</file>

<file path=ppt/tags/tag54.xml><?xml version="1.0" encoding="utf-8"?>
<p:tagLst xmlns:p="http://schemas.openxmlformats.org/presentationml/2006/main">
  <p:tag name="KSO_WM_DIAGRAM_VIRTUALLY_FRAME" val="{&quot;height&quot;:394.37440944881894,&quot;left&quot;:47.5,&quot;top&quot;:111.47496062992124,&quot;width&quot;:862.9949606299213}"/>
</p:tagLst>
</file>

<file path=ppt/tags/tag55.xml><?xml version="1.0" encoding="utf-8"?>
<p:tagLst xmlns:p="http://schemas.openxmlformats.org/presentationml/2006/main">
  <p:tag name="KSO_WM_DIAGRAM_VIRTUALLY_FRAME" val="{&quot;height&quot;:394.37440944881894,&quot;left&quot;:47.5,&quot;top&quot;:111.47496062992124,&quot;width&quot;:862.9949606299213}"/>
</p:tagLst>
</file>

<file path=ppt/tags/tag56.xml><?xml version="1.0" encoding="utf-8"?>
<p:tagLst xmlns:p="http://schemas.openxmlformats.org/presentationml/2006/main">
  <p:tag name="KSO_WM_DIAGRAM_VIRTUALLY_FRAME" val="{&quot;height&quot;:394.37440944881894,&quot;left&quot;:47.5,&quot;top&quot;:111.47496062992124,&quot;width&quot;:862.9949606299213}"/>
</p:tagLst>
</file>

<file path=ppt/tags/tag57.xml><?xml version="1.0" encoding="utf-8"?>
<p:tagLst xmlns:p="http://schemas.openxmlformats.org/presentationml/2006/main">
  <p:tag name="KSO_WM_DIAGRAM_VIRTUALLY_FRAME" val="{&quot;height&quot;:394.37440944881894,&quot;left&quot;:47.5,&quot;top&quot;:111.47496062992124,&quot;width&quot;:862.9949606299213}"/>
</p:tagLst>
</file>

<file path=ppt/tags/tag58.xml><?xml version="1.0" encoding="utf-8"?>
<p:tagLst xmlns:p="http://schemas.openxmlformats.org/presentationml/2006/main">
  <p:tag name="KSO_WM_DIAGRAM_VIRTUALLY_FRAME" val="{&quot;height&quot;:394.37440944881894,&quot;left&quot;:47.5,&quot;top&quot;:111.47496062992124,&quot;width&quot;:862.9949606299213}"/>
</p:tagLst>
</file>

<file path=ppt/tags/tag59.xml><?xml version="1.0" encoding="utf-8"?>
<p:tagLst xmlns:p="http://schemas.openxmlformats.org/presentationml/2006/main">
  <p:tag name="KSO_WM_DIAGRAM_VIRTUALLY_FRAME" val="{&quot;height&quot;:433.26574803149606,&quot;left&quot;:47.5,&quot;top&quot;:99.13118110236216,&quot;width&quot;:869.15}"/>
</p:tagLst>
</file>

<file path=ppt/tags/tag60.xml><?xml version="1.0" encoding="utf-8"?>
<p:tagLst xmlns:p="http://schemas.openxmlformats.org/presentationml/2006/main">
  <p:tag name="KSO_WM_DIAGRAM_VIRTUALLY_FRAME" val="{&quot;height&quot;:394.37440944881894,&quot;left&quot;:47.5,&quot;top&quot;:111.47496062992124,&quot;width&quot;:862.9949606299213}"/>
</p:tagLst>
</file>

<file path=ppt/tags/tag61.xml><?xml version="1.0" encoding="utf-8"?>
<p:tagLst xmlns:p="http://schemas.openxmlformats.org/presentationml/2006/main">
  <p:tag name="KSO_WM_DIAGRAM_VIRTUALLY_FRAME" val="{&quot;height&quot;:394.37440944881894,&quot;left&quot;:47.5,&quot;top&quot;:111.47496062992124,&quot;width&quot;:862.9949606299213}"/>
</p:tagLst>
</file>

<file path=ppt/tags/tag62.xml><?xml version="1.0" encoding="utf-8"?>
<p:tagLst xmlns:p="http://schemas.openxmlformats.org/presentationml/2006/main">
  <p:tag name="KSO_WM_DIAGRAM_VIRTUALLY_FRAME" val="{&quot;height&quot;:394.37440944881894,&quot;left&quot;:47.5,&quot;top&quot;:111.47496062992124,&quot;width&quot;:862.9949606299213}"/>
</p:tagLst>
</file>

<file path=ppt/tags/tag63.xml><?xml version="1.0" encoding="utf-8"?>
<p:tagLst xmlns:p="http://schemas.openxmlformats.org/presentationml/2006/main">
  <p:tag name="KSO_WM_DIAGRAM_VIRTUALLY_FRAME" val="{&quot;height&quot;:394.37440944881894,&quot;left&quot;:47.5,&quot;top&quot;:111.47496062992124,&quot;width&quot;:862.9949606299213}"/>
</p:tagLst>
</file>

<file path=ppt/tags/tag64.xml><?xml version="1.0" encoding="utf-8"?>
<p:tagLst xmlns:p="http://schemas.openxmlformats.org/presentationml/2006/main">
  <p:tag name="KSO_WM_DIAGRAM_VIRTUALLY_FRAME" val="{&quot;height&quot;:394.37440944881894,&quot;left&quot;:47.5,&quot;top&quot;:111.47496062992124,&quot;width&quot;:862.9949606299213}"/>
</p:tagLst>
</file>

<file path=ppt/tags/tag65.xml><?xml version="1.0" encoding="utf-8"?>
<p:tagLst xmlns:p="http://schemas.openxmlformats.org/presentationml/2006/main">
  <p:tag name="KSO_WM_DIAGRAM_VIRTUALLY_FRAME" val="{&quot;height&quot;:433.26574803149606,&quot;left&quot;:47.5,&quot;top&quot;:99.13118110236216,&quot;width&quot;:869.15}"/>
</p:tagLst>
</file>

<file path=ppt/tags/tag66.xml><?xml version="1.0" encoding="utf-8"?>
<p:tagLst xmlns:p="http://schemas.openxmlformats.org/presentationml/2006/main">
  <p:tag name="KSO_WM_DIAGRAM_VIRTUALLY_FRAME" val="{&quot;height&quot;:394.37440944881894,&quot;left&quot;:47.5,&quot;top&quot;:111.47496062992124,&quot;width&quot;:862.9949606299213}"/>
</p:tagLst>
</file>

<file path=ppt/tags/tag67.xml><?xml version="1.0" encoding="utf-8"?>
<p:tagLst xmlns:p="http://schemas.openxmlformats.org/presentationml/2006/main">
  <p:tag name="KSO_WM_DIAGRAM_VIRTUALLY_FRAME" val="{&quot;height&quot;:394.37440944881894,&quot;left&quot;:47.5,&quot;top&quot;:111.47496062992124,&quot;width&quot;:862.9949606299213}"/>
</p:tagLst>
</file>

<file path=ppt/tags/tag68.xml><?xml version="1.0" encoding="utf-8"?>
<p:tagLst xmlns:p="http://schemas.openxmlformats.org/presentationml/2006/main">
  <p:tag name="KSO_WM_DIAGRAM_VIRTUALLY_FRAME" val="{&quot;height&quot;:394.37440944881894,&quot;left&quot;:47.5,&quot;top&quot;:111.47496062992124,&quot;width&quot;:862.9949606299213}"/>
</p:tagLst>
</file>

<file path=ppt/tags/tag69.xml><?xml version="1.0" encoding="utf-8"?>
<p:tagLst xmlns:p="http://schemas.openxmlformats.org/presentationml/2006/main">
  <p:tag name="KSO_WM_DIAGRAM_VIRTUALLY_FRAME" val="{&quot;height&quot;:394.37440944881894,&quot;left&quot;:47.5,&quot;top&quot;:111.47496062992124,&quot;width&quot;:862.9949606299213}"/>
</p:tagLst>
</file>

<file path=ppt/tags/tag70.xml><?xml version="1.0" encoding="utf-8"?>
<p:tagLst xmlns:p="http://schemas.openxmlformats.org/presentationml/2006/main">
  <p:tag name="KSO_WM_DIAGRAM_VIRTUALLY_FRAME" val="{&quot;height&quot;:394.37440944881894,&quot;left&quot;:47.5,&quot;top&quot;:111.47496062992124,&quot;width&quot;:862.9949606299213}"/>
</p:tagLst>
</file>

<file path=ppt/tags/tag71.xml><?xml version="1.0" encoding="utf-8"?>
<p:tagLst xmlns:p="http://schemas.openxmlformats.org/presentationml/2006/main">
  <p:tag name="KSO_WM_DIAGRAM_VIRTUALLY_FRAME" val="{&quot;height&quot;:433.26574803149606,&quot;left&quot;:47.5,&quot;top&quot;:99.13118110236216,&quot;width&quot;:869.15}"/>
</p:tagLst>
</file>

<file path=ppt/tags/tag72.xml><?xml version="1.0" encoding="utf-8"?>
<p:tagLst xmlns:p="http://schemas.openxmlformats.org/presentationml/2006/main">
  <p:tag name="KSO_WM_DIAGRAM_VIRTUALLY_FRAME" val="{&quot;height&quot;:394.37440944881894,&quot;left&quot;:47.5,&quot;top&quot;:111.47496062992124,&quot;width&quot;:862.9949606299213}"/>
</p:tagLst>
</file>

<file path=ppt/tags/tag73.xml><?xml version="1.0" encoding="utf-8"?>
<p:tagLst xmlns:p="http://schemas.openxmlformats.org/presentationml/2006/main">
  <p:tag name="KSO_WM_DIAGRAM_VIRTUALLY_FRAME" val="{&quot;height&quot;:394.37440944881894,&quot;left&quot;:47.5,&quot;top&quot;:111.47496062992124,&quot;width&quot;:862.9949606299213}"/>
</p:tagLst>
</file>

<file path=ppt/tags/tag74.xml><?xml version="1.0" encoding="utf-8"?>
<p:tagLst xmlns:p="http://schemas.openxmlformats.org/presentationml/2006/main">
  <p:tag name="KSO_WM_DIAGRAM_VIRTUALLY_FRAME" val="{&quot;height&quot;:431.6,&quot;left&quot;:82.4,&quot;top&quot;:85.45,&quot;width&quot;:793.7007874015748}"/>
</p:tagLst>
</file>

<file path=ppt/tags/tag75.xml><?xml version="1.0" encoding="utf-8"?>
<p:tagLst xmlns:p="http://schemas.openxmlformats.org/presentationml/2006/main">
  <p:tag name="KSO_WM_DIAGRAM_VIRTUALLY_FRAME" val="{&quot;height&quot;:431.6,&quot;left&quot;:82.4,&quot;top&quot;:85.45,&quot;width&quot;:793.7007874015748}"/>
</p:tagLst>
</file>

<file path=ppt/tags/tag76.xml><?xml version="1.0" encoding="utf-8"?>
<p:tagLst xmlns:p="http://schemas.openxmlformats.org/presentationml/2006/main">
  <p:tag name="KSO_WM_DIAGRAM_VIRTUALLY_FRAME" val="{&quot;height&quot;:431.6,&quot;left&quot;:82.4,&quot;top&quot;:85.45,&quot;width&quot;:793.7007874015748}"/>
</p:tagLst>
</file>

<file path=ppt/tags/tag77.xml><?xml version="1.0" encoding="utf-8"?>
<p:tagLst xmlns:p="http://schemas.openxmlformats.org/presentationml/2006/main">
  <p:tag name="KSO_WM_DIAGRAM_VIRTUALLY_FRAME" val="{&quot;height&quot;:431.6,&quot;left&quot;:82.4,&quot;top&quot;:85.45,&quot;width&quot;:793.7007874015748}"/>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UNIT_PLACING_PICTURE_USER_VIEWPORT" val="{&quot;height&quot;:6641,&quot;width&quot;:6641}"/>
</p:tagLst>
</file>

<file path=ppt/tags/tag80.xml><?xml version="1.0" encoding="utf-8"?>
<p:tagLst xmlns:p="http://schemas.openxmlformats.org/presentationml/2006/main">
  <p:tag name="KSO_WM_DIAGRAM_VIRTUALLY_FRAME" val="{&quot;height&quot;:89.55,&quot;left&quot;:11.6,&quot;top&quot;:93.05,&quot;width&quot;:951.95}"/>
</p:tagLst>
</file>

<file path=ppt/tags/tag81.xml><?xml version="1.0" encoding="utf-8"?>
<p:tagLst xmlns:p="http://schemas.openxmlformats.org/presentationml/2006/main">
  <p:tag name="KSO_WM_DIAGRAM_VIRTUALLY_FRAME" val="{&quot;height&quot;:89.55,&quot;left&quot;:11.6,&quot;top&quot;:93.05,&quot;width&quot;:951.95}"/>
</p:tagLst>
</file>

<file path=ppt/tags/tag82.xml><?xml version="1.0" encoding="utf-8"?>
<p:tagLst xmlns:p="http://schemas.openxmlformats.org/presentationml/2006/main">
  <p:tag name="KSO_WM_DIAGRAM_VIRTUALLY_FRAME" val="{&quot;height&quot;:89.55,&quot;left&quot;:11.6,&quot;top&quot;:93.05,&quot;width&quot;:951.95}"/>
</p:tagLst>
</file>

<file path=ppt/tags/tag83.xml><?xml version="1.0" encoding="utf-8"?>
<p:tagLst xmlns:p="http://schemas.openxmlformats.org/presentationml/2006/main">
  <p:tag name="KSO_WM_DIAGRAM_VIRTUALLY_FRAME" val="{&quot;height&quot;:89.55,&quot;left&quot;:11.6,&quot;top&quot;:93.05,&quot;width&quot;:951.95}"/>
</p:tagLst>
</file>

<file path=ppt/tags/tag84.xml><?xml version="1.0" encoding="utf-8"?>
<p:tagLst xmlns:p="http://schemas.openxmlformats.org/presentationml/2006/main">
  <p:tag name="KSO_WM_DIAGRAM_VIRTUALLY_FRAME" val="{&quot;height&quot;:89.55,&quot;left&quot;:11.6,&quot;top&quot;:93.05,&quot;width&quot;:951.95}"/>
</p:tagLst>
</file>

<file path=ppt/tags/tag85.xml><?xml version="1.0" encoding="utf-8"?>
<p:tagLst xmlns:p="http://schemas.openxmlformats.org/presentationml/2006/main">
  <p:tag name="KSO_WM_DIAGRAM_VIRTUALLY_FRAME" val="{&quot;height&quot;:89.55,&quot;left&quot;:11.6,&quot;top&quot;:93.05,&quot;width&quot;:951.95}"/>
</p:tagLst>
</file>

<file path=ppt/tags/tag86.xml><?xml version="1.0" encoding="utf-8"?>
<p:tagLst xmlns:p="http://schemas.openxmlformats.org/presentationml/2006/main">
  <p:tag name="KSO_WM_DIAGRAM_VIRTUALLY_FRAME" val="{&quot;height&quot;:89.55,&quot;left&quot;:11.6,&quot;top&quot;:93.05,&quot;width&quot;:951.95}"/>
</p:tagLst>
</file>

<file path=ppt/tags/tag87.xml><?xml version="1.0" encoding="utf-8"?>
<p:tagLst xmlns:p="http://schemas.openxmlformats.org/presentationml/2006/main">
  <p:tag name="KSO_WM_DIAGRAM_VIRTUALLY_FRAME" val="{&quot;height&quot;:89.55,&quot;left&quot;:11.6,&quot;top&quot;:93.05,&quot;width&quot;:951.95}"/>
</p:tagLst>
</file>

<file path=ppt/tags/tag88.xml><?xml version="1.0" encoding="utf-8"?>
<p:tagLst xmlns:p="http://schemas.openxmlformats.org/presentationml/2006/main">
  <p:tag name="KSO_WM_DIAGRAM_VIRTUALLY_FRAME" val="{&quot;height&quot;:89.55,&quot;left&quot;:11.6,&quot;top&quot;:93.05,&quot;width&quot;:951.95}"/>
</p:tagLst>
</file>

<file path=ppt/tags/tag89.xml><?xml version="1.0" encoding="utf-8"?>
<p:tagLst xmlns:p="http://schemas.openxmlformats.org/presentationml/2006/main">
  <p:tag name="KSO_WM_DIAGRAM_VIRTUALLY_FRAME" val="{&quot;height&quot;:89.55,&quot;left&quot;:11.6,&quot;top&quot;:93.05,&quot;width&quot;:951.95}"/>
</p:tagLst>
</file>

<file path=ppt/tags/tag90.xml><?xml version="1.0" encoding="utf-8"?>
<p:tagLst xmlns:p="http://schemas.openxmlformats.org/presentationml/2006/main">
  <p:tag name="KSO_WM_DIAGRAM_VIRTUALLY_FRAME" val="{&quot;height&quot;:89.55,&quot;left&quot;:11.6,&quot;top&quot;:93.05,&quot;width&quot;:951.95}"/>
</p:tagLst>
</file>

<file path=ppt/tags/tag91.xml><?xml version="1.0" encoding="utf-8"?>
<p:tagLst xmlns:p="http://schemas.openxmlformats.org/presentationml/2006/main">
  <p:tag name="KSO_WM_DIAGRAM_VIRTUALLY_FRAME" val="{&quot;height&quot;:89.55,&quot;left&quot;:11.6,&quot;top&quot;:93.05,&quot;width&quot;:951.95}"/>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UNIT_PLACING_PICTURE_USER_VIEWPORT" val="{&quot;height&quot;:6641,&quot;width&quot;:6641}"/>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PLACING_PICTURE_USER_VIEWPORT" val="{&quot;height&quot;:6641,&quot;width&quot;:6641}"/>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PLACING_PICTURE_USER_VIEWPORT" val="{&quot;height&quot;:6641,&quot;width&quot;:6641}"/>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DIAGRAM_VIRTUALLY_FRAME" val="{&quot;height&quot;:425.0688188976378,&quot;left&quot;:42.8,&quot;top&quot;:109.13118110236219,&quot;width&quot;:874.85}"/>
</p:tagLst>
</file>

<file path=ppt/tags/tag102.xml><?xml version="1.0" encoding="utf-8"?>
<p:tagLst xmlns:p="http://schemas.openxmlformats.org/presentationml/2006/main">
  <p:tag name="KSO_WM_DIAGRAM_VIRTUALLY_FRAME" val="{&quot;height&quot;:425.0688188976378,&quot;left&quot;:42.8,&quot;top&quot;:109.13118110236219,&quot;width&quot;:874.85}"/>
</p:tagLst>
</file>

<file path=ppt/tags/tag103.xml><?xml version="1.0" encoding="utf-8"?>
<p:tagLst xmlns:p="http://schemas.openxmlformats.org/presentationml/2006/main">
  <p:tag name="KSO_WM_DIAGRAM_VIRTUALLY_FRAME" val="{&quot;height&quot;:425.0688188976378,&quot;left&quot;:42.8,&quot;top&quot;:109.13118110236219,&quot;width&quot;:874.85}"/>
</p:tagLst>
</file>

<file path=ppt/tags/tag104.xml><?xml version="1.0" encoding="utf-8"?>
<p:tagLst xmlns:p="http://schemas.openxmlformats.org/presentationml/2006/main">
  <p:tag name="KSO_WM_DIAGRAM_VIRTUALLY_FRAME" val="{&quot;height&quot;:425.0688188976378,&quot;left&quot;:42.8,&quot;top&quot;:109.13118110236219,&quot;width&quot;:874.85}"/>
</p:tagLst>
</file>

<file path=ppt/tags/tag105.xml><?xml version="1.0" encoding="utf-8"?>
<p:tagLst xmlns:p="http://schemas.openxmlformats.org/presentationml/2006/main">
  <p:tag name="KSO_WM_DIAGRAM_VIRTUALLY_FRAME" val="{&quot;height&quot;:425.0688188976378,&quot;left&quot;:42.8,&quot;top&quot;:109.13118110236219,&quot;width&quot;:874.85}"/>
</p:tagLst>
</file>

<file path=ppt/tags/tag106.xml><?xml version="1.0" encoding="utf-8"?>
<p:tagLst xmlns:p="http://schemas.openxmlformats.org/presentationml/2006/main">
  <p:tag name="KSO_WM_DIAGRAM_VIRTUALLY_FRAME" val="{&quot;height&quot;:425.0688188976378,&quot;left&quot;:42.8,&quot;top&quot;:109.13118110236219,&quot;width&quot;:874.85}"/>
</p:tagLst>
</file>

<file path=ppt/tags/tag107.xml><?xml version="1.0" encoding="utf-8"?>
<p:tagLst xmlns:p="http://schemas.openxmlformats.org/presentationml/2006/main">
  <p:tag name="KSO_WM_DIAGRAM_VIRTUALLY_FRAME" val="{&quot;height&quot;:425.0688188976378,&quot;left&quot;:42.8,&quot;top&quot;:109.13118110236219,&quot;width&quot;:874.85}"/>
</p:tagLst>
</file>

<file path=ppt/tags/tag108.xml><?xml version="1.0" encoding="utf-8"?>
<p:tagLst xmlns:p="http://schemas.openxmlformats.org/presentationml/2006/main">
  <p:tag name="KSO_WM_DIAGRAM_VIRTUALLY_FRAME" val="{&quot;height&quot;:425.0688188976378,&quot;left&quot;:42.8,&quot;top&quot;:109.13118110236219,&quot;width&quot;:874.85}"/>
</p:tagLst>
</file>

<file path=ppt/tags/tag109.xml><?xml version="1.0" encoding="utf-8"?>
<p:tagLst xmlns:p="http://schemas.openxmlformats.org/presentationml/2006/main">
  <p:tag name="KSO_WM_DIAGRAM_VIRTUALLY_FRAME" val="{&quot;height&quot;:425.0688188976378,&quot;left&quot;:42.8,&quot;top&quot;:109.13118110236219,&quot;width&quot;:874.85}"/>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ags/tag113.xml><?xml version="1.0" encoding="utf-8"?>
<p:tagLst xmlns:p="http://schemas.openxmlformats.org/presentationml/2006/main">
  <p:tag name="KSO_WM_DIAGRAM_VIRTUALLY_FRAME" val="{&quot;height&quot;:322.3669291338582,&quot;left&quot;:285.79622047244095,&quot;top&quot;:83.03858267716537,&quot;width&quot;:663.05}"/>
</p:tagLst>
</file>

<file path=ppt/tags/tag114.xml><?xml version="1.0" encoding="utf-8"?>
<p:tagLst xmlns:p="http://schemas.openxmlformats.org/presentationml/2006/main">
  <p:tag name="KSO_WM_DIAGRAM_VIRTUALLY_FRAME" val="{&quot;height&quot;:322.3669291338582,&quot;left&quot;:285.79622047244095,&quot;top&quot;:83.03858267716537,&quot;width&quot;:663.05}"/>
</p:tagLst>
</file>

<file path=ppt/tags/tag115.xml><?xml version="1.0" encoding="utf-8"?>
<p:tagLst xmlns:p="http://schemas.openxmlformats.org/presentationml/2006/main">
  <p:tag name="KSO_WM_DIAGRAM_VIRTUALLY_FRAME" val="{&quot;height&quot;:322.3669291338582,&quot;left&quot;:285.79622047244095,&quot;top&quot;:83.03858267716537,&quot;width&quot;:663.05}"/>
</p:tagLst>
</file>

<file path=ppt/tags/tag116.xml><?xml version="1.0" encoding="utf-8"?>
<p:tagLst xmlns:p="http://schemas.openxmlformats.org/presentationml/2006/main">
  <p:tag name="KSO_WM_DIAGRAM_VIRTUALLY_FRAME" val="{&quot;height&quot;:322.3669291338582,&quot;left&quot;:285.79622047244095,&quot;top&quot;:83.03858267716537,&quot;width&quot;:663.05}"/>
</p:tagLst>
</file>

<file path=ppt/tags/tag117.xml><?xml version="1.0" encoding="utf-8"?>
<p:tagLst xmlns:p="http://schemas.openxmlformats.org/presentationml/2006/main">
  <p:tag name="KSO_WM_DIAGRAM_VIRTUALLY_FRAME" val="{&quot;height&quot;:322.3669291338582,&quot;left&quot;:285.79622047244095,&quot;top&quot;:83.03858267716537,&quot;width&quot;:663.05}"/>
</p:tagLst>
</file>

<file path=ppt/tags/tag118.xml><?xml version="1.0" encoding="utf-8"?>
<p:tagLst xmlns:p="http://schemas.openxmlformats.org/presentationml/2006/main">
  <p:tag name="KSO_WM_DIAGRAM_VIRTUALLY_FRAME" val="{&quot;height&quot;:322.3669291338582,&quot;left&quot;:285.79622047244095,&quot;top&quot;:83.03858267716537,&quot;width&quot;:663.05}"/>
</p:tagLst>
</file>

<file path=ppt/tags/tag119.xml><?xml version="1.0" encoding="utf-8"?>
<p:tagLst xmlns:p="http://schemas.openxmlformats.org/presentationml/2006/main">
  <p:tag name="KSO_WM_DIAGRAM_VIRTUALLY_FRAME" val="{&quot;height&quot;:322.3669291338582,&quot;left&quot;:285.79622047244095,&quot;top&quot;:83.03858267716537,&quot;width&quot;:663.05}"/>
</p:tagLst>
</file>

<file path=ppt/tags/tag120.xml><?xml version="1.0" encoding="utf-8"?>
<p:tagLst xmlns:p="http://schemas.openxmlformats.org/presentationml/2006/main">
  <p:tag name="KSO_WM_DIAGRAM_VIRTUALLY_FRAME" val="{&quot;height&quot;:322.3669291338582,&quot;left&quot;:285.79622047244095,&quot;top&quot;:83.03858267716537,&quot;width&quot;:663.05}"/>
</p:tagLst>
</file>

<file path=ppt/tags/tag121.xml><?xml version="1.0" encoding="utf-8"?>
<p:tagLst xmlns:p="http://schemas.openxmlformats.org/presentationml/2006/main">
  <p:tag name="KSO_WM_DIAGRAM_VIRTUALLY_FRAME" val="{&quot;height&quot;:322.3669291338582,&quot;left&quot;:285.79622047244095,&quot;top&quot;:83.03858267716537,&quot;width&quot;:663.05}"/>
</p:tagLst>
</file>

<file path=ppt/tags/tag122.xml><?xml version="1.0" encoding="utf-8"?>
<p:tagLst xmlns:p="http://schemas.openxmlformats.org/presentationml/2006/main">
  <p:tag name="KSO_WM_DIAGRAM_VIRTUALLY_FRAME" val="{&quot;height&quot;:322.3669291338582,&quot;left&quot;:285.79622047244095,&quot;top&quot;:83.03858267716537,&quot;width&quot;:663.05}"/>
</p:tagLst>
</file>

<file path=ppt/tags/tag123.xml><?xml version="1.0" encoding="utf-8"?>
<p:tagLst xmlns:p="http://schemas.openxmlformats.org/presentationml/2006/main">
  <p:tag name="KSO_WM_DIAGRAM_VIRTUALLY_FRAME" val="{&quot;height&quot;:322.3669291338582,&quot;left&quot;:285.79622047244095,&quot;top&quot;:83.03858267716537,&quot;width&quot;:663.05}"/>
</p:tagLst>
</file>

<file path=ppt/tags/tag124.xml><?xml version="1.0" encoding="utf-8"?>
<p:tagLst xmlns:p="http://schemas.openxmlformats.org/presentationml/2006/main">
  <p:tag name="KSO_WM_DIAGRAM_VIRTUALLY_FRAME" val="{&quot;height&quot;:322.3669291338582,&quot;left&quot;:285.79622047244095,&quot;top&quot;:83.03858267716537,&quot;width&quot;:663.05}"/>
</p:tagLst>
</file>

<file path=ppt/tags/tag125.xml><?xml version="1.0" encoding="utf-8"?>
<p:tagLst xmlns:p="http://schemas.openxmlformats.org/presentationml/2006/main">
  <p:tag name="KSO_WM_DIAGRAM_VIRTUALLY_FRAME" val="{&quot;height&quot;:322.3669291338582,&quot;left&quot;:285.79622047244095,&quot;top&quot;:83.03858267716537,&quot;width&quot;:663.05}"/>
</p:tagLst>
</file>

<file path=ppt/tags/tag126.xml><?xml version="1.0" encoding="utf-8"?>
<p:tagLst xmlns:p="http://schemas.openxmlformats.org/presentationml/2006/main">
  <p:tag name="KSO_WM_DIAGRAM_VIRTUALLY_FRAME" val="{&quot;height&quot;:322.3669291338582,&quot;left&quot;:285.79622047244095,&quot;top&quot;:83.03858267716537,&quot;width&quot;:663.05}"/>
</p:tagLst>
</file>

<file path=ppt/tags/tag127.xml><?xml version="1.0" encoding="utf-8"?>
<p:tagLst xmlns:p="http://schemas.openxmlformats.org/presentationml/2006/main">
  <p:tag name="KSO_WM_BEAUTIFY_FLAG" val="#wm#"/>
  <p:tag name="KSO_WM_TEMPLATE_CATEGORY" val="custom"/>
  <p:tag name="KSO_WM_TEMPLATE_INDEX" val="20205081"/>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commondata" val="eyJoZGlkIjoiNmFlZTM5ZDUyMTU0YTc1NTg4NTk0YzhhYzBiN2NiN2Q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3045</Words>
  <Application>WPS 演示</Application>
  <PresentationFormat>宽屏</PresentationFormat>
  <Paragraphs>217</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宋体</vt:lpstr>
      <vt:lpstr>Wingdings</vt:lpstr>
      <vt:lpstr>微软雅黑</vt:lpstr>
      <vt:lpstr>Wingdings</vt:lpstr>
      <vt:lpstr>微软雅黑 Light</vt:lpstr>
      <vt:lpstr>华文中宋</vt:lpstr>
      <vt:lpstr>Open Sans</vt:lpstr>
      <vt:lpstr>Arial</vt:lpstr>
      <vt:lpstr>Bauhaus 93</vt:lpstr>
      <vt:lpstr>Arial Unicode MS</vt:lpstr>
      <vt:lpstr>Calibri</vt:lpstr>
      <vt:lpstr>Segoe Print</vt:lpstr>
      <vt:lpstr>Gabriola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xxxx</dc:creator>
  <cp:lastModifiedBy>DammyLi</cp:lastModifiedBy>
  <cp:revision>195</cp:revision>
  <dcterms:created xsi:type="dcterms:W3CDTF">2019-06-19T02:08:00Z</dcterms:created>
  <dcterms:modified xsi:type="dcterms:W3CDTF">2024-10-12T01:50:20Z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0F0B2C6F7DA94AA48C3A3D119CDF6587_13</vt:lpwstr>
  </property>
</Properties>
</file>